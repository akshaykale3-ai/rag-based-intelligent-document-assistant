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623DEF-3405-5C12-29EC-CE23D474CF10}">
          <p14:sldIdLst>
            <p14:sldId id="256"/>
            <p14:sldId id="257"/>
            <p14:sldId id="258"/>
          </p14:sldIdLst>
        </p14:section>
        <p14:section name="Architecture" id="{69CB61D1-066C-812A-68B2-87ED31C9AD40}">
          <p14:sldIdLst>
            <p14:sldId id="259"/>
            <p14:sldId id="260"/>
          </p14:sldIdLst>
        </p14:section>
        <p14:section name="Implementation" id="{63B88404-46A4-7F69-1F52-B190EAA3F6E8}">
          <p14:sldIdLst>
            <p14:sldId id="261"/>
            <p14:sldId id="262"/>
            <p14:sldId id="263"/>
            <p14:sldId id="264"/>
            <p14:sldId id="265"/>
          </p14:sldIdLst>
        </p14:section>
        <p14:section name="Deployment" id="{1FE7C318-08AE-DE02-C04E-8BBAAA401D06}">
          <p14:sldIdLst>
            <p14:sldId id="266"/>
            <p14:sldId id="267"/>
            <p14:sldId id="268"/>
            <p14:sldId id="269"/>
            <p14:sldId id="270"/>
          </p14:sldIdLst>
        </p14:section>
        <p14:section name="Conclusion" id="{63CF021A-C9CD-86F0-4EA5-511B8C9E47B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55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document question-answering assistant built with Retrieval-Augmented Generation, using LlamaIndex for indexing/retrieval and LangChain for LLM orchestration.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goals come directly from the assignment objective. Each is covered by a step in the notebook and a feature in the web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requires LangChain for LLM integration, prompts, chains and parsing, and LlamaIndex for indexing and retrieval. This slide shows exactly which component does which job.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The teal steps run in LlamaIndex, the amber steps in LangChain. The RunnableLambda wrapper is the bridge between the two frameworks.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run locally so indexing is free; only answer generation calls the LLM API. The provider is switched with LLM_PROVIDER in the .env file.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PDFs are read page by page, so every chunk keeps its page_label for citations. Settings.llm is set to None because LlamaIndex is used only for indexing and retrieval.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retriever converts the question into an embedding and returns the top-k most similar chunks. One equality filter per selected document, joined with OR, works the same across LlamaIndex versions.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RAG system. The dictionary step runs retrieval and passes the question through; the prompt combines them; the LLM answers; the parser returns plain text.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format_instructions from the parser are injected into the prompt as a partial variable, which tells the LLM the exact JSON schema to return.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chat sees only the top-k chunks, so whole-document summary requests are routed to the map-reduce summarizer. Follow-up questions like 'and on which days?' are rewritten into standalone questions before retrieval.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deployed from GitHub on Streamlit Community Cloud and opens with a public .streamlit.app link. The same functions as the notebook power the app; Streamlit adds the sidebar, chat UI and tabs.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problems hit while running the project on a Windows machine with the Groq free tier, and the code changes that fixed each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policy documents were used because their correct answers are known in advance, which makes it easy to verify that answers are grounded and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assignment asks for lives in one GitHub repository: the notebook, the deployable app and its requirements. API keys are never committed; they are added as secrets on Streamlit Cloud.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and testing happen locally in VS Code. The code is pushed to GitHub, and Streamlit Community Cloud builds the app from the repository. Every new push to main redeploys the app automatically. The API key is stored in Streamlit secrets, which the app reads like the .env file.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all objectives and constraints are met, delivered as a notebook and a deployable Streamlit app. Mention possible improvements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611880"/>
            <a:ext cx="10698480" cy="1280160"/>
          </a:xfrm>
          <a:prstGeom prst="rect">
            <a:avLst/>
          </a:prstGeom>
          <a:noFill/>
          <a:ln/>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3"/>
                </a:solidFill>
              </a:rPr>
              <a:t>Assignment 1.2 · RAG-Based Intelligent Document Assistant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rPr>
              <a:t>RAG-Based Intelligent Document Assistant</a:t>
            </a:r>
            <a:endParaRPr lang="en-US" sz="4400" dirty="0"/>
          </a:p>
        </p:txBody>
      </p:sp>
      <p:sp>
        <p:nvSpPr>
          <p:cNvPr id="3" name="Text 0"/>
          <p:cNvSpPr>
            <a:spLocks noGrp="1"/>
          </p:cNvSpPr>
          <p:nvPr>
            <p:ph type="body" idx="101" hasCustomPrompt="1"/>
          </p:nvPr>
        </p:nvSpPr>
        <p:spPr>
          <a:xfrm>
            <a:off x="731520" y="3611880"/>
            <a:ext cx="10698480" cy="1280160"/>
          </a:xfrm>
          <a:prstGeom prst="rect">
            <a:avLst/>
          </a:prstGeom>
          <a:noFill/>
          <a:ln/>
        </p:spPr>
        <p:txBody>
          <a:bodyPr wrap="square" lIns="0" tIns="0" rIns="0" bIns="0" rtlCol="0" anchor="t"/>
          <a:lstStyle/>
          <a:p>
            <a:pPr marL="0" indent="0">
              <a:buNone/>
            </a:pPr>
            <a:r>
              <a:rPr lang="en-US" sz="2000" dirty="0">
                <a:solidFill>
                  <a:schemeClr val="accent4"/>
                </a:solidFill>
              </a:rPr>
              <a:t>Assignment 1.2 · LangChain + LlamaIndex</a:t>
            </a:r>
            <a:endParaRPr lang="en-US" sz="2000" dirty="0"/>
          </a:p>
          <a:p>
            <a:pPr marL="0" indent="0">
              <a:buNone/>
            </a:pPr>
            <a:r>
              <a:rPr lang="en-US" sz="2000" b="1" dirty="0">
                <a:solidFill>
                  <a:schemeClr val="accent2"/>
                </a:solidFill>
              </a:rPr>
              <a:t>Akshay Kale</a:t>
            </a:r>
            <a:endParaRPr lang="en-US" sz="2000" dirty="0"/>
          </a:p>
        </p:txBody>
      </p:sp>
      <p:sp>
        <p:nvSpPr>
          <p:cNvPr id="4" name="title-icon-circle"/>
          <p:cNvSpPr/>
          <p:nvPr/>
        </p:nvSpPr>
        <p:spPr>
          <a:xfrm>
            <a:off x="731520" y="731520"/>
            <a:ext cx="914400" cy="914400"/>
          </a:xfrm>
          <a:prstGeom prst="ellipse">
            <a:avLst/>
          </a:prstGeom>
          <a:solidFill>
            <a:schemeClr val="accent1"/>
          </a:solidFill>
          <a:ln w="12700">
            <a:solidFill>
              <a:schemeClr val="accent1"/>
            </a:solidFill>
            <a:prstDash val="solid"/>
          </a:ln>
        </p:spPr>
      </p:sp>
      <p:pic>
        <p:nvPicPr>
          <p:cNvPr id="5" name="title-icon" descr="preencoded.png"/>
          <p:cNvPicPr>
            <a:picLocks noChangeAspect="1"/>
          </p:cNvPicPr>
          <p:nvPr/>
        </p:nvPicPr>
        <p:blipFill>
          <a:blip r:embed="rId3"/>
          <a:stretch>
            <a:fillRect/>
          </a:stretch>
        </p:blipFill>
        <p:spPr>
          <a:xfrm>
            <a:off x="969264" y="969264"/>
            <a:ext cx="438912" cy="438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Objective: answer questions from your own documents</a:t>
            </a:r>
            <a:endParaRPr lang="en-US" sz="3400" dirty="0"/>
          </a:p>
        </p:txBody>
      </p:sp>
      <p:sp>
        <p:nvSpPr>
          <p:cNvPr id="3" name="obj-card-0"/>
          <p:cNvSpPr/>
          <p:nvPr/>
        </p:nvSpPr>
        <p:spPr>
          <a:xfrm>
            <a:off x="548640" y="1417320"/>
            <a:ext cx="3520440" cy="2103120"/>
          </a:xfrm>
          <a:prstGeom prst="roundRect">
            <a:avLst>
              <a:gd name="adj" fmla="val 4348"/>
            </a:avLst>
          </a:prstGeom>
          <a:solidFill>
            <a:schemeClr val="bg2"/>
          </a:solidFill>
          <a:ln w="12700">
            <a:solidFill>
              <a:schemeClr val="bg2"/>
            </a:solidFill>
            <a:prstDash val="solid"/>
          </a:ln>
        </p:spPr>
      </p:sp>
      <p:sp>
        <p:nvSpPr>
          <p:cNvPr id="4" name="obj-icon-0-circle"/>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5" name="obj-icon-0" descr="preencoded.png"/>
          <p:cNvPicPr>
            <a:picLocks noChangeAspect="1"/>
          </p:cNvPicPr>
          <p:nvPr/>
        </p:nvPicPr>
        <p:blipFill>
          <a:blip r:embed="rId3"/>
          <a:stretch>
            <a:fillRect/>
          </a:stretch>
        </p:blipFill>
        <p:spPr>
          <a:xfrm>
            <a:off x="1001268" y="1869948"/>
            <a:ext cx="329184" cy="329184"/>
          </a:xfrm>
          <a:prstGeom prst="rect">
            <a:avLst/>
          </a:prstGeom>
        </p:spPr>
      </p:pic>
      <p:sp>
        <p:nvSpPr>
          <p:cNvPr id="6" name="obj-title-0"/>
          <p:cNvSpPr txBox="1"/>
          <p:nvPr/>
        </p:nvSpPr>
        <p:spPr>
          <a:xfrm>
            <a:off x="822960" y="2514600"/>
            <a:ext cx="3017520" cy="365760"/>
          </a:xfrm>
          <a:prstGeom prst="rect">
            <a:avLst/>
          </a:prstGeom>
          <a:noFill/>
          <a:ln/>
        </p:spPr>
        <p:txBody>
          <a:bodyPr wrap="square" lIns="0" tIns="0" rIns="0" bIns="0" rtlCol="0" anchor="t"/>
          <a:lstStyle/>
          <a:p>
            <a:pPr marL="0" indent="0">
              <a:buNone/>
            </a:pPr>
            <a:r>
              <a:rPr lang="en-US" sz="1800" b="1" dirty="0">
                <a:solidFill>
                  <a:schemeClr val="tx2"/>
                </a:solidFill>
              </a:rPr>
              <a:t>Ingest documents</a:t>
            </a:r>
            <a:endParaRPr lang="en-US" sz="1800" dirty="0"/>
          </a:p>
        </p:txBody>
      </p:sp>
      <p:sp>
        <p:nvSpPr>
          <p:cNvPr id="7" name="obj-text-0"/>
          <p:cNvSpPr txBox="1"/>
          <p:nvPr/>
        </p:nvSpPr>
        <p:spPr>
          <a:xfrm>
            <a:off x="822960" y="288036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PDF, TXT, MD, DOCX files and web pages</a:t>
            </a:r>
            <a:endParaRPr lang="en-US" sz="1400" dirty="0"/>
          </a:p>
        </p:txBody>
      </p:sp>
      <p:sp>
        <p:nvSpPr>
          <p:cNvPr id="8" name="obj-card-1"/>
          <p:cNvSpPr/>
          <p:nvPr/>
        </p:nvSpPr>
        <p:spPr>
          <a:xfrm>
            <a:off x="4297680" y="1417320"/>
            <a:ext cx="3520440" cy="2103120"/>
          </a:xfrm>
          <a:prstGeom prst="roundRect">
            <a:avLst>
              <a:gd name="adj" fmla="val 4348"/>
            </a:avLst>
          </a:prstGeom>
          <a:solidFill>
            <a:schemeClr val="bg2"/>
          </a:solidFill>
          <a:ln w="12700">
            <a:solidFill>
              <a:schemeClr val="bg2"/>
            </a:solidFill>
            <a:prstDash val="solid"/>
          </a:ln>
        </p:spPr>
      </p:sp>
      <p:sp>
        <p:nvSpPr>
          <p:cNvPr id="9" name="obj-icon-1-circle"/>
          <p:cNvSpPr/>
          <p:nvPr/>
        </p:nvSpPr>
        <p:spPr>
          <a:xfrm>
            <a:off x="4572000" y="1691640"/>
            <a:ext cx="685800" cy="685800"/>
          </a:xfrm>
          <a:prstGeom prst="ellipse">
            <a:avLst/>
          </a:prstGeom>
          <a:solidFill>
            <a:schemeClr val="accent1"/>
          </a:solidFill>
          <a:ln w="12700">
            <a:solidFill>
              <a:schemeClr val="accent1"/>
            </a:solidFill>
            <a:prstDash val="solid"/>
          </a:ln>
        </p:spPr>
      </p:sp>
      <p:pic>
        <p:nvPicPr>
          <p:cNvPr id="10" name="obj-icon-1" descr="preencoded.png"/>
          <p:cNvPicPr>
            <a:picLocks noChangeAspect="1"/>
          </p:cNvPicPr>
          <p:nvPr/>
        </p:nvPicPr>
        <p:blipFill>
          <a:blip r:embed="rId4"/>
          <a:stretch>
            <a:fillRect/>
          </a:stretch>
        </p:blipFill>
        <p:spPr>
          <a:xfrm>
            <a:off x="4750308" y="1869948"/>
            <a:ext cx="329184" cy="329184"/>
          </a:xfrm>
          <a:prstGeom prst="rect">
            <a:avLst/>
          </a:prstGeom>
        </p:spPr>
      </p:pic>
      <p:sp>
        <p:nvSpPr>
          <p:cNvPr id="11" name="obj-title-1"/>
          <p:cNvSpPr txBox="1"/>
          <p:nvPr/>
        </p:nvSpPr>
        <p:spPr>
          <a:xfrm>
            <a:off x="4572000" y="2514600"/>
            <a:ext cx="3017520" cy="365760"/>
          </a:xfrm>
          <a:prstGeom prst="rect">
            <a:avLst/>
          </a:prstGeom>
          <a:noFill/>
          <a:ln/>
        </p:spPr>
        <p:txBody>
          <a:bodyPr wrap="square" lIns="0" tIns="0" rIns="0" bIns="0" rtlCol="0" anchor="t"/>
          <a:lstStyle/>
          <a:p>
            <a:pPr marL="0" indent="0">
              <a:buNone/>
            </a:pPr>
            <a:r>
              <a:rPr lang="en-US" sz="1800" b="1" dirty="0">
                <a:solidFill>
                  <a:schemeClr val="tx2"/>
                </a:solidFill>
              </a:rPr>
              <a:t>Index with LlamaIndex</a:t>
            </a:r>
            <a:endParaRPr lang="en-US" sz="1800" dirty="0"/>
          </a:p>
        </p:txBody>
      </p:sp>
      <p:sp>
        <p:nvSpPr>
          <p:cNvPr id="12" name="obj-text-1"/>
          <p:cNvSpPr txBox="1"/>
          <p:nvPr/>
        </p:nvSpPr>
        <p:spPr>
          <a:xfrm>
            <a:off x="4572000" y="288036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Chunks, embeddings and a saved vector index</a:t>
            </a:r>
            <a:endParaRPr lang="en-US" sz="1400" dirty="0"/>
          </a:p>
        </p:txBody>
      </p:sp>
      <p:sp>
        <p:nvSpPr>
          <p:cNvPr id="13" name="obj-card-2"/>
          <p:cNvSpPr/>
          <p:nvPr/>
        </p:nvSpPr>
        <p:spPr>
          <a:xfrm>
            <a:off x="8046720" y="1417320"/>
            <a:ext cx="3520440" cy="2103120"/>
          </a:xfrm>
          <a:prstGeom prst="roundRect">
            <a:avLst>
              <a:gd name="adj" fmla="val 4348"/>
            </a:avLst>
          </a:prstGeom>
          <a:solidFill>
            <a:schemeClr val="bg2"/>
          </a:solidFill>
          <a:ln w="12700">
            <a:solidFill>
              <a:schemeClr val="bg2"/>
            </a:solidFill>
            <a:prstDash val="solid"/>
          </a:ln>
        </p:spPr>
      </p:sp>
      <p:sp>
        <p:nvSpPr>
          <p:cNvPr id="14" name="obj-icon-2-circle"/>
          <p:cNvSpPr/>
          <p:nvPr/>
        </p:nvSpPr>
        <p:spPr>
          <a:xfrm>
            <a:off x="8321040" y="1691640"/>
            <a:ext cx="685800" cy="685800"/>
          </a:xfrm>
          <a:prstGeom prst="ellipse">
            <a:avLst/>
          </a:prstGeom>
          <a:solidFill>
            <a:schemeClr val="accent1"/>
          </a:solidFill>
          <a:ln w="12700">
            <a:solidFill>
              <a:schemeClr val="accent1"/>
            </a:solidFill>
            <a:prstDash val="solid"/>
          </a:ln>
        </p:spPr>
      </p:sp>
      <p:pic>
        <p:nvPicPr>
          <p:cNvPr id="15" name="obj-icon-2" descr="preencoded.png"/>
          <p:cNvPicPr>
            <a:picLocks noChangeAspect="1"/>
          </p:cNvPicPr>
          <p:nvPr/>
        </p:nvPicPr>
        <p:blipFill>
          <a:blip r:embed="rId5"/>
          <a:stretch>
            <a:fillRect/>
          </a:stretch>
        </p:blipFill>
        <p:spPr>
          <a:xfrm>
            <a:off x="8499348" y="1869948"/>
            <a:ext cx="329184" cy="329184"/>
          </a:xfrm>
          <a:prstGeom prst="rect">
            <a:avLst/>
          </a:prstGeom>
        </p:spPr>
      </p:pic>
      <p:sp>
        <p:nvSpPr>
          <p:cNvPr id="16" name="obj-title-2"/>
          <p:cNvSpPr txBox="1"/>
          <p:nvPr/>
        </p:nvSpPr>
        <p:spPr>
          <a:xfrm>
            <a:off x="8321040" y="2514600"/>
            <a:ext cx="3017520" cy="365760"/>
          </a:xfrm>
          <a:prstGeom prst="rect">
            <a:avLst/>
          </a:prstGeom>
          <a:noFill/>
          <a:ln/>
        </p:spPr>
        <p:txBody>
          <a:bodyPr wrap="square" lIns="0" tIns="0" rIns="0" bIns="0" rtlCol="0" anchor="t"/>
          <a:lstStyle/>
          <a:p>
            <a:pPr marL="0" indent="0">
              <a:buNone/>
            </a:pPr>
            <a:r>
              <a:rPr lang="en-US" sz="1800" b="1" dirty="0">
                <a:solidFill>
                  <a:schemeClr val="tx2"/>
                </a:solidFill>
              </a:rPr>
              <a:t>Semantic retrieval</a:t>
            </a:r>
            <a:endParaRPr lang="en-US" sz="1800" dirty="0"/>
          </a:p>
        </p:txBody>
      </p:sp>
      <p:sp>
        <p:nvSpPr>
          <p:cNvPr id="17" name="obj-text-2"/>
          <p:cNvSpPr txBox="1"/>
          <p:nvPr/>
        </p:nvSpPr>
        <p:spPr>
          <a:xfrm>
            <a:off x="8321040" y="288036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Find the most similar chunks using embeddings</a:t>
            </a:r>
            <a:endParaRPr lang="en-US" sz="1400" dirty="0"/>
          </a:p>
        </p:txBody>
      </p:sp>
      <p:sp>
        <p:nvSpPr>
          <p:cNvPr id="18" name="obj-card-3"/>
          <p:cNvSpPr/>
          <p:nvPr/>
        </p:nvSpPr>
        <p:spPr>
          <a:xfrm>
            <a:off x="548640" y="3794760"/>
            <a:ext cx="3520440" cy="2103120"/>
          </a:xfrm>
          <a:prstGeom prst="roundRect">
            <a:avLst>
              <a:gd name="adj" fmla="val 4348"/>
            </a:avLst>
          </a:prstGeom>
          <a:solidFill>
            <a:schemeClr val="bg2"/>
          </a:solidFill>
          <a:ln w="12700">
            <a:solidFill>
              <a:schemeClr val="bg2"/>
            </a:solidFill>
            <a:prstDash val="solid"/>
          </a:ln>
        </p:spPr>
      </p:sp>
      <p:sp>
        <p:nvSpPr>
          <p:cNvPr id="19" name="obj-icon-3-circle"/>
          <p:cNvSpPr/>
          <p:nvPr/>
        </p:nvSpPr>
        <p:spPr>
          <a:xfrm>
            <a:off x="822960" y="4069080"/>
            <a:ext cx="685800" cy="685800"/>
          </a:xfrm>
          <a:prstGeom prst="ellipse">
            <a:avLst/>
          </a:prstGeom>
          <a:solidFill>
            <a:schemeClr val="accent2"/>
          </a:solidFill>
          <a:ln w="12700">
            <a:solidFill>
              <a:schemeClr val="accent2"/>
            </a:solidFill>
            <a:prstDash val="solid"/>
          </a:ln>
        </p:spPr>
      </p:sp>
      <p:pic>
        <p:nvPicPr>
          <p:cNvPr id="20" name="obj-icon-3" descr="preencoded.png"/>
          <p:cNvPicPr>
            <a:picLocks noChangeAspect="1"/>
          </p:cNvPicPr>
          <p:nvPr/>
        </p:nvPicPr>
        <p:blipFill>
          <a:blip r:embed="rId6"/>
          <a:stretch>
            <a:fillRect/>
          </a:stretch>
        </p:blipFill>
        <p:spPr>
          <a:xfrm>
            <a:off x="1001268" y="4247388"/>
            <a:ext cx="329184" cy="329184"/>
          </a:xfrm>
          <a:prstGeom prst="rect">
            <a:avLst/>
          </a:prstGeom>
        </p:spPr>
      </p:pic>
      <p:sp>
        <p:nvSpPr>
          <p:cNvPr id="21" name="obj-title-3"/>
          <p:cNvSpPr txBox="1"/>
          <p:nvPr/>
        </p:nvSpPr>
        <p:spPr>
          <a:xfrm>
            <a:off x="822960" y="4892040"/>
            <a:ext cx="3017520" cy="365760"/>
          </a:xfrm>
          <a:prstGeom prst="rect">
            <a:avLst/>
          </a:prstGeom>
          <a:noFill/>
          <a:ln/>
        </p:spPr>
        <p:txBody>
          <a:bodyPr wrap="square" lIns="0" tIns="0" rIns="0" bIns="0" rtlCol="0" anchor="t"/>
          <a:lstStyle/>
          <a:p>
            <a:pPr marL="0" indent="0">
              <a:buNone/>
            </a:pPr>
            <a:r>
              <a:rPr lang="en-US" sz="1800" b="1" dirty="0">
                <a:solidFill>
                  <a:schemeClr val="tx2"/>
                </a:solidFill>
              </a:rPr>
              <a:t>LangChain orchestration</a:t>
            </a:r>
            <a:endParaRPr lang="en-US" sz="1800" dirty="0"/>
          </a:p>
        </p:txBody>
      </p:sp>
      <p:sp>
        <p:nvSpPr>
          <p:cNvPr id="22" name="obj-text-3"/>
          <p:cNvSpPr txBox="1"/>
          <p:nvPr/>
        </p:nvSpPr>
        <p:spPr>
          <a:xfrm>
            <a:off x="822960" y="525780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Prompts, LCEL chains and output parsing</a:t>
            </a:r>
            <a:endParaRPr lang="en-US" sz="1400" dirty="0"/>
          </a:p>
        </p:txBody>
      </p:sp>
      <p:sp>
        <p:nvSpPr>
          <p:cNvPr id="23" name="obj-card-4"/>
          <p:cNvSpPr/>
          <p:nvPr/>
        </p:nvSpPr>
        <p:spPr>
          <a:xfrm>
            <a:off x="4297680" y="3794760"/>
            <a:ext cx="3520440" cy="2103120"/>
          </a:xfrm>
          <a:prstGeom prst="roundRect">
            <a:avLst>
              <a:gd name="adj" fmla="val 4348"/>
            </a:avLst>
          </a:prstGeom>
          <a:solidFill>
            <a:schemeClr val="bg2"/>
          </a:solidFill>
          <a:ln w="12700">
            <a:solidFill>
              <a:schemeClr val="bg2"/>
            </a:solidFill>
            <a:prstDash val="solid"/>
          </a:ln>
        </p:spPr>
      </p:sp>
      <p:sp>
        <p:nvSpPr>
          <p:cNvPr id="24" name="obj-icon-4-circle"/>
          <p:cNvSpPr/>
          <p:nvPr/>
        </p:nvSpPr>
        <p:spPr>
          <a:xfrm>
            <a:off x="4572000" y="4069080"/>
            <a:ext cx="685800" cy="685800"/>
          </a:xfrm>
          <a:prstGeom prst="ellipse">
            <a:avLst/>
          </a:prstGeom>
          <a:solidFill>
            <a:schemeClr val="accent2"/>
          </a:solidFill>
          <a:ln w="12700">
            <a:solidFill>
              <a:schemeClr val="accent2"/>
            </a:solidFill>
            <a:prstDash val="solid"/>
          </a:ln>
        </p:spPr>
      </p:sp>
      <p:pic>
        <p:nvPicPr>
          <p:cNvPr id="25" name="obj-icon-4" descr="preencoded.png"/>
          <p:cNvPicPr>
            <a:picLocks noChangeAspect="1"/>
          </p:cNvPicPr>
          <p:nvPr/>
        </p:nvPicPr>
        <p:blipFill>
          <a:blip r:embed="rId7"/>
          <a:stretch>
            <a:fillRect/>
          </a:stretch>
        </p:blipFill>
        <p:spPr>
          <a:xfrm>
            <a:off x="4750308" y="4247388"/>
            <a:ext cx="329184" cy="329184"/>
          </a:xfrm>
          <a:prstGeom prst="rect">
            <a:avLst/>
          </a:prstGeom>
        </p:spPr>
      </p:pic>
      <p:sp>
        <p:nvSpPr>
          <p:cNvPr id="26" name="obj-title-4"/>
          <p:cNvSpPr txBox="1"/>
          <p:nvPr/>
        </p:nvSpPr>
        <p:spPr>
          <a:xfrm>
            <a:off x="4572000" y="4892040"/>
            <a:ext cx="3017520" cy="365760"/>
          </a:xfrm>
          <a:prstGeom prst="rect">
            <a:avLst/>
          </a:prstGeom>
          <a:noFill/>
          <a:ln/>
        </p:spPr>
        <p:txBody>
          <a:bodyPr wrap="square" lIns="0" tIns="0" rIns="0" bIns="0" rtlCol="0" anchor="t"/>
          <a:lstStyle/>
          <a:p>
            <a:pPr marL="0" indent="0">
              <a:buNone/>
            </a:pPr>
            <a:r>
              <a:rPr lang="en-US" sz="1800" b="1" dirty="0">
                <a:solidFill>
                  <a:schemeClr val="tx2"/>
                </a:solidFill>
              </a:rPr>
              <a:t>Context-aware answers</a:t>
            </a:r>
            <a:endParaRPr lang="en-US" sz="1800" dirty="0"/>
          </a:p>
        </p:txBody>
      </p:sp>
      <p:sp>
        <p:nvSpPr>
          <p:cNvPr id="27" name="obj-text-4"/>
          <p:cNvSpPr txBox="1"/>
          <p:nvPr/>
        </p:nvSpPr>
        <p:spPr>
          <a:xfrm>
            <a:off x="4572000" y="525780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Grounded in documents, with cited sources</a:t>
            </a:r>
            <a:endParaRPr lang="en-US" sz="1400" dirty="0"/>
          </a:p>
        </p:txBody>
      </p:sp>
      <p:sp>
        <p:nvSpPr>
          <p:cNvPr id="28" name="obj-card-5"/>
          <p:cNvSpPr/>
          <p:nvPr/>
        </p:nvSpPr>
        <p:spPr>
          <a:xfrm>
            <a:off x="8046720" y="3794760"/>
            <a:ext cx="3520440" cy="2103120"/>
          </a:xfrm>
          <a:prstGeom prst="roundRect">
            <a:avLst>
              <a:gd name="adj" fmla="val 4348"/>
            </a:avLst>
          </a:prstGeom>
          <a:solidFill>
            <a:schemeClr val="bg2"/>
          </a:solidFill>
          <a:ln w="12700">
            <a:solidFill>
              <a:schemeClr val="bg2"/>
            </a:solidFill>
            <a:prstDash val="solid"/>
          </a:ln>
        </p:spPr>
      </p:sp>
      <p:sp>
        <p:nvSpPr>
          <p:cNvPr id="29" name="obj-icon-5-circle"/>
          <p:cNvSpPr/>
          <p:nvPr/>
        </p:nvSpPr>
        <p:spPr>
          <a:xfrm>
            <a:off x="8321040" y="4069080"/>
            <a:ext cx="685800" cy="685800"/>
          </a:xfrm>
          <a:prstGeom prst="ellipse">
            <a:avLst/>
          </a:prstGeom>
          <a:solidFill>
            <a:schemeClr val="accent2"/>
          </a:solidFill>
          <a:ln w="12700">
            <a:solidFill>
              <a:schemeClr val="accent2"/>
            </a:solidFill>
            <a:prstDash val="solid"/>
          </a:ln>
        </p:spPr>
      </p:sp>
      <p:pic>
        <p:nvPicPr>
          <p:cNvPr id="30" name="obj-icon-5" descr="preencoded.png"/>
          <p:cNvPicPr>
            <a:picLocks noChangeAspect="1"/>
          </p:cNvPicPr>
          <p:nvPr/>
        </p:nvPicPr>
        <p:blipFill>
          <a:blip r:embed="rId8"/>
          <a:stretch>
            <a:fillRect/>
          </a:stretch>
        </p:blipFill>
        <p:spPr>
          <a:xfrm>
            <a:off x="8499348" y="4247388"/>
            <a:ext cx="329184" cy="329184"/>
          </a:xfrm>
          <a:prstGeom prst="rect">
            <a:avLst/>
          </a:prstGeom>
        </p:spPr>
      </p:pic>
      <p:sp>
        <p:nvSpPr>
          <p:cNvPr id="31" name="obj-title-5"/>
          <p:cNvSpPr txBox="1"/>
          <p:nvPr/>
        </p:nvSpPr>
        <p:spPr>
          <a:xfrm>
            <a:off x="8321040" y="4892040"/>
            <a:ext cx="3017520" cy="365760"/>
          </a:xfrm>
          <a:prstGeom prst="rect">
            <a:avLst/>
          </a:prstGeom>
          <a:noFill/>
          <a:ln/>
        </p:spPr>
        <p:txBody>
          <a:bodyPr wrap="square" lIns="0" tIns="0" rIns="0" bIns="0" rtlCol="0" anchor="t"/>
          <a:lstStyle/>
          <a:p>
            <a:pPr marL="0" indent="0">
              <a:buNone/>
            </a:pPr>
            <a:r>
              <a:rPr lang="en-US" sz="1800" b="1" dirty="0">
                <a:solidFill>
                  <a:schemeClr val="tx2"/>
                </a:solidFill>
              </a:rPr>
              <a:t>Multi-document + summary</a:t>
            </a:r>
            <a:endParaRPr lang="en-US" sz="1800" dirty="0"/>
          </a:p>
        </p:txBody>
      </p:sp>
      <p:sp>
        <p:nvSpPr>
          <p:cNvPr id="32" name="obj-text-5"/>
          <p:cNvSpPr txBox="1"/>
          <p:nvPr/>
        </p:nvSpPr>
        <p:spPr>
          <a:xfrm>
            <a:off x="8321040" y="5257800"/>
            <a:ext cx="3017520" cy="548640"/>
          </a:xfrm>
          <a:prstGeom prst="rect">
            <a:avLst/>
          </a:prstGeom>
          <a:noFill/>
          <a:ln/>
        </p:spPr>
        <p:txBody>
          <a:bodyPr wrap="square" lIns="0" tIns="0" rIns="0" bIns="0" rtlCol="0" anchor="t"/>
          <a:lstStyle/>
          <a:p>
            <a:pPr marL="0" indent="0">
              <a:buNone/>
            </a:pPr>
            <a:r>
              <a:rPr lang="en-US" sz="1400" dirty="0">
                <a:solidFill>
                  <a:schemeClr val="accent3"/>
                </a:solidFill>
              </a:rPr>
              <a:t>Filter, compare and summarize documents</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Technical constraints: a clear split of responsibilities</a:t>
            </a:r>
            <a:endParaRPr lang="en-US" sz="3400" dirty="0"/>
          </a:p>
        </p:txBody>
      </p:sp>
      <p:sp>
        <p:nvSpPr>
          <p:cNvPr id="3" name="split-card-0"/>
          <p:cNvSpPr/>
          <p:nvPr/>
        </p:nvSpPr>
        <p:spPr>
          <a:xfrm>
            <a:off x="548640" y="1417320"/>
            <a:ext cx="5440680" cy="4663440"/>
          </a:xfrm>
          <a:prstGeom prst="roundRect">
            <a:avLst>
              <a:gd name="adj" fmla="val 1961"/>
            </a:avLst>
          </a:prstGeom>
          <a:solidFill>
            <a:schemeClr val="accent4"/>
          </a:solidFill>
          <a:ln w="12700">
            <a:solidFill>
              <a:schemeClr val="accent4"/>
            </a:solidFill>
            <a:prstDash val="solid"/>
          </a:ln>
        </p:spPr>
      </p:sp>
      <p:sp>
        <p:nvSpPr>
          <p:cNvPr id="4" name="split-icon-0-circle"/>
          <p:cNvSpPr/>
          <p:nvPr/>
        </p:nvSpPr>
        <p:spPr>
          <a:xfrm>
            <a:off x="868680" y="1691640"/>
            <a:ext cx="731520" cy="731520"/>
          </a:xfrm>
          <a:prstGeom prst="ellipse">
            <a:avLst/>
          </a:prstGeom>
          <a:solidFill>
            <a:schemeClr val="accent1"/>
          </a:solidFill>
          <a:ln w="12700">
            <a:solidFill>
              <a:schemeClr val="accent1"/>
            </a:solidFill>
            <a:prstDash val="solid"/>
          </a:ln>
        </p:spPr>
      </p:sp>
      <p:pic>
        <p:nvPicPr>
          <p:cNvPr id="5" name="split-icon-0" descr="preencoded.png"/>
          <p:cNvPicPr>
            <a:picLocks noChangeAspect="1"/>
          </p:cNvPicPr>
          <p:nvPr/>
        </p:nvPicPr>
        <p:blipFill>
          <a:blip r:embed="rId3"/>
          <a:stretch>
            <a:fillRect/>
          </a:stretch>
        </p:blipFill>
        <p:spPr>
          <a:xfrm>
            <a:off x="1058875" y="1881835"/>
            <a:ext cx="351130" cy="351130"/>
          </a:xfrm>
          <a:prstGeom prst="rect">
            <a:avLst/>
          </a:prstGeom>
        </p:spPr>
      </p:pic>
      <p:sp>
        <p:nvSpPr>
          <p:cNvPr id="6" name="split-head-0"/>
          <p:cNvSpPr txBox="1"/>
          <p:nvPr/>
        </p:nvSpPr>
        <p:spPr>
          <a:xfrm>
            <a:off x="1783080" y="1783080"/>
            <a:ext cx="3931920" cy="548640"/>
          </a:xfrm>
          <a:prstGeom prst="rect">
            <a:avLst/>
          </a:prstGeom>
          <a:noFill/>
          <a:ln/>
        </p:spPr>
        <p:txBody>
          <a:bodyPr wrap="square" lIns="0" tIns="0" rIns="0" bIns="0" rtlCol="0" anchor="t"/>
          <a:lstStyle/>
          <a:p>
            <a:pPr marL="0" indent="0">
              <a:buNone/>
            </a:pPr>
            <a:r>
              <a:rPr lang="en-US" sz="2400" b="1" dirty="0">
                <a:solidFill>
                  <a:schemeClr val="tx2"/>
                </a:solidFill>
                <a:latin typeface="Cambria" pitchFamily="34" charset="0"/>
                <a:ea typeface="Cambria" pitchFamily="34" charset="-122"/>
                <a:cs typeface="Cambria" pitchFamily="34" charset="-120"/>
              </a:rPr>
              <a:t>LlamaIndex</a:t>
            </a:r>
            <a:endParaRPr lang="en-US" sz="2400" dirty="0"/>
          </a:p>
        </p:txBody>
      </p:sp>
      <p:sp>
        <p:nvSpPr>
          <p:cNvPr id="7" name="split-list-0"/>
          <p:cNvSpPr txBox="1"/>
          <p:nvPr/>
        </p:nvSpPr>
        <p:spPr>
          <a:xfrm>
            <a:off x="914400" y="2743200"/>
            <a:ext cx="4754880" cy="31089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SimpleDirectoryReader – document loading</a:t>
            </a:r>
            <a:endParaRPr lang="en-US" sz="1800" dirty="0"/>
          </a:p>
          <a:p>
            <a:pPr marL="342900" indent="-342900">
              <a:spcAft>
                <a:spcPts val="1600"/>
              </a:spcAft>
              <a:buSzPct val="100000"/>
              <a:buChar char="•"/>
            </a:pPr>
            <a:r>
              <a:rPr lang="en-US" sz="1800" dirty="0">
                <a:solidFill>
                  <a:schemeClr val="tx1"/>
                </a:solidFill>
              </a:rPr>
              <a:t>SentenceSplitter – chunking (512 / 50)</a:t>
            </a:r>
            <a:endParaRPr lang="en-US" sz="1800" dirty="0"/>
          </a:p>
          <a:p>
            <a:pPr marL="342900" indent="-342900">
              <a:spcAft>
                <a:spcPts val="1600"/>
              </a:spcAft>
              <a:buSzPct val="100000"/>
              <a:buChar char="•"/>
            </a:pPr>
            <a:r>
              <a:rPr lang="en-US" sz="1800" dirty="0">
                <a:solidFill>
                  <a:schemeClr val="tx1"/>
                </a:solidFill>
              </a:rPr>
              <a:t>HuggingFace embeddings (all-MiniLM-L6-v2)</a:t>
            </a:r>
            <a:endParaRPr lang="en-US" sz="1800" dirty="0"/>
          </a:p>
          <a:p>
            <a:pPr marL="342900" indent="-342900">
              <a:spcAft>
                <a:spcPts val="1600"/>
              </a:spcAft>
              <a:buSzPct val="100000"/>
              <a:buChar char="•"/>
            </a:pPr>
            <a:r>
              <a:rPr lang="en-US" sz="1800" dirty="0">
                <a:solidFill>
                  <a:schemeClr val="tx1"/>
                </a:solidFill>
              </a:rPr>
              <a:t>VectorStoreIndex – persisted to storage/</a:t>
            </a:r>
            <a:endParaRPr lang="en-US" sz="1800" dirty="0"/>
          </a:p>
          <a:p>
            <a:pPr marL="342900" indent="-342900">
              <a:spcAft>
                <a:spcPts val="1600"/>
              </a:spcAft>
              <a:buSzPct val="100000"/>
              <a:buChar char="•"/>
            </a:pPr>
            <a:r>
              <a:rPr lang="en-US" sz="1800" dirty="0">
                <a:solidFill>
                  <a:schemeClr val="tx1"/>
                </a:solidFill>
              </a:rPr>
              <a:t>Retriever with top-k and metadata filters</a:t>
            </a:r>
            <a:endParaRPr lang="en-US" sz="1800" dirty="0"/>
          </a:p>
        </p:txBody>
      </p:sp>
      <p:sp>
        <p:nvSpPr>
          <p:cNvPr id="8" name="split-card-1"/>
          <p:cNvSpPr/>
          <p:nvPr/>
        </p:nvSpPr>
        <p:spPr>
          <a:xfrm>
            <a:off x="6217920" y="1417320"/>
            <a:ext cx="5440680" cy="4663440"/>
          </a:xfrm>
          <a:prstGeom prst="roundRect">
            <a:avLst>
              <a:gd name="adj" fmla="val 1961"/>
            </a:avLst>
          </a:prstGeom>
          <a:solidFill>
            <a:schemeClr val="accent5"/>
          </a:solidFill>
          <a:ln w="12700">
            <a:solidFill>
              <a:schemeClr val="accent5"/>
            </a:solidFill>
            <a:prstDash val="solid"/>
          </a:ln>
        </p:spPr>
      </p:sp>
      <p:sp>
        <p:nvSpPr>
          <p:cNvPr id="9" name="split-icon-1-circle"/>
          <p:cNvSpPr/>
          <p:nvPr/>
        </p:nvSpPr>
        <p:spPr>
          <a:xfrm>
            <a:off x="6537960" y="1691640"/>
            <a:ext cx="731520" cy="731520"/>
          </a:xfrm>
          <a:prstGeom prst="ellipse">
            <a:avLst/>
          </a:prstGeom>
          <a:solidFill>
            <a:schemeClr val="accent2"/>
          </a:solidFill>
          <a:ln w="12700">
            <a:solidFill>
              <a:schemeClr val="accent2"/>
            </a:solidFill>
            <a:prstDash val="solid"/>
          </a:ln>
        </p:spPr>
      </p:sp>
      <p:pic>
        <p:nvPicPr>
          <p:cNvPr id="10" name="split-icon-1" descr="preencoded.png"/>
          <p:cNvPicPr>
            <a:picLocks noChangeAspect="1"/>
          </p:cNvPicPr>
          <p:nvPr/>
        </p:nvPicPr>
        <p:blipFill>
          <a:blip r:embed="rId4"/>
          <a:stretch>
            <a:fillRect/>
          </a:stretch>
        </p:blipFill>
        <p:spPr>
          <a:xfrm>
            <a:off x="6728155" y="1881835"/>
            <a:ext cx="351130" cy="351130"/>
          </a:xfrm>
          <a:prstGeom prst="rect">
            <a:avLst/>
          </a:prstGeom>
        </p:spPr>
      </p:pic>
      <p:sp>
        <p:nvSpPr>
          <p:cNvPr id="11" name="split-head-1"/>
          <p:cNvSpPr txBox="1"/>
          <p:nvPr/>
        </p:nvSpPr>
        <p:spPr>
          <a:xfrm>
            <a:off x="7452360" y="1783080"/>
            <a:ext cx="3931920" cy="548640"/>
          </a:xfrm>
          <a:prstGeom prst="rect">
            <a:avLst/>
          </a:prstGeom>
          <a:noFill/>
          <a:ln/>
        </p:spPr>
        <p:txBody>
          <a:bodyPr wrap="square" lIns="0" tIns="0" rIns="0" bIns="0" rtlCol="0" anchor="t"/>
          <a:lstStyle/>
          <a:p>
            <a:pPr marL="0" indent="0">
              <a:buNone/>
            </a:pPr>
            <a:r>
              <a:rPr lang="en-US" sz="2400" b="1" dirty="0">
                <a:solidFill>
                  <a:schemeClr val="tx2"/>
                </a:solidFill>
                <a:latin typeface="Cambria" pitchFamily="34" charset="0"/>
                <a:ea typeface="Cambria" pitchFamily="34" charset="-122"/>
                <a:cs typeface="Cambria" pitchFamily="34" charset="-120"/>
              </a:rPr>
              <a:t>LangChain</a:t>
            </a:r>
            <a:endParaRPr lang="en-US" sz="2400" dirty="0"/>
          </a:p>
        </p:txBody>
      </p:sp>
      <p:sp>
        <p:nvSpPr>
          <p:cNvPr id="12" name="split-list-1"/>
          <p:cNvSpPr txBox="1"/>
          <p:nvPr/>
        </p:nvSpPr>
        <p:spPr>
          <a:xfrm>
            <a:off x="6583680" y="2743200"/>
            <a:ext cx="4754880" cy="31089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ChatGroq / ChatOpenAI – LLM integration</a:t>
            </a:r>
            <a:endParaRPr lang="en-US" sz="1800" dirty="0"/>
          </a:p>
          <a:p>
            <a:pPr marL="342900" indent="-342900">
              <a:spcAft>
                <a:spcPts val="1600"/>
              </a:spcAft>
              <a:buSzPct val="100000"/>
              <a:buChar char="•"/>
            </a:pPr>
            <a:r>
              <a:rPr lang="en-US" sz="1800" dirty="0">
                <a:solidFill>
                  <a:schemeClr val="tx1"/>
                </a:solidFill>
              </a:rPr>
              <a:t>ChatPromptTemplate – prompt templates</a:t>
            </a:r>
            <a:endParaRPr lang="en-US" sz="1800" dirty="0"/>
          </a:p>
          <a:p>
            <a:pPr marL="342900" indent="-342900">
              <a:spcAft>
                <a:spcPts val="1600"/>
              </a:spcAft>
              <a:buSzPct val="100000"/>
              <a:buChar char="•"/>
            </a:pPr>
            <a:r>
              <a:rPr lang="en-US" sz="1800" dirty="0">
                <a:solidFill>
                  <a:schemeClr val="tx1"/>
                </a:solidFill>
              </a:rPr>
              <a:t>LCEL chains, RunnableLambda, RunnablePassthrough</a:t>
            </a:r>
            <a:endParaRPr lang="en-US" sz="1800" dirty="0"/>
          </a:p>
          <a:p>
            <a:pPr marL="342900" indent="-342900">
              <a:spcAft>
                <a:spcPts val="1600"/>
              </a:spcAft>
              <a:buSzPct val="100000"/>
              <a:buChar char="•"/>
            </a:pPr>
            <a:r>
              <a:rPr lang="en-US" sz="1800" dirty="0">
                <a:solidFill>
                  <a:schemeClr val="tx1"/>
                </a:solidFill>
              </a:rPr>
              <a:t>StrOutputParser – plain-text answers</a:t>
            </a:r>
            <a:endParaRPr lang="en-US" sz="1800" dirty="0"/>
          </a:p>
          <a:p>
            <a:pPr marL="342900" indent="-342900">
              <a:spcAft>
                <a:spcPts val="1600"/>
              </a:spcAft>
              <a:buSzPct val="100000"/>
              <a:buChar char="•"/>
            </a:pPr>
            <a:r>
              <a:rPr lang="en-US" sz="1800" dirty="0">
                <a:solidFill>
                  <a:schemeClr val="tx1"/>
                </a:solidFill>
              </a:rPr>
              <a:t>PydanticOutputParser – structured answers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Architecture: from documents to cited answers</a:t>
            </a:r>
            <a:endParaRPr lang="en-US" sz="3400" dirty="0"/>
          </a:p>
        </p:txBody>
      </p:sp>
      <p:sp>
        <p:nvSpPr>
          <p:cNvPr id="3" name="flow-icon-0-circle"/>
          <p:cNvSpPr/>
          <p:nvPr/>
        </p:nvSpPr>
        <p:spPr>
          <a:xfrm>
            <a:off x="960120" y="1737360"/>
            <a:ext cx="868680" cy="868680"/>
          </a:xfrm>
          <a:prstGeom prst="ellipse">
            <a:avLst/>
          </a:prstGeom>
          <a:solidFill>
            <a:schemeClr val="accent1"/>
          </a:solidFill>
          <a:ln w="12700">
            <a:solidFill>
              <a:schemeClr val="accent1"/>
            </a:solidFill>
            <a:prstDash val="solid"/>
          </a:ln>
        </p:spPr>
      </p:sp>
      <p:pic>
        <p:nvPicPr>
          <p:cNvPr id="4" name="flow-icon-0" descr="preencoded.png"/>
          <p:cNvPicPr>
            <a:picLocks noChangeAspect="1"/>
          </p:cNvPicPr>
          <p:nvPr/>
        </p:nvPicPr>
        <p:blipFill>
          <a:blip r:embed="rId3"/>
          <a:stretch>
            <a:fillRect/>
          </a:stretch>
        </p:blipFill>
        <p:spPr>
          <a:xfrm>
            <a:off x="1185977" y="1963217"/>
            <a:ext cx="416966" cy="416966"/>
          </a:xfrm>
          <a:prstGeom prst="rect">
            <a:avLst/>
          </a:prstGeom>
        </p:spPr>
      </p:pic>
      <p:sp>
        <p:nvSpPr>
          <p:cNvPr id="5" name="flow-title-0"/>
          <p:cNvSpPr txBox="1"/>
          <p:nvPr/>
        </p:nvSpPr>
        <p:spPr>
          <a:xfrm>
            <a:off x="54864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Documents</a:t>
            </a:r>
            <a:endParaRPr lang="en-US" sz="1600" dirty="0"/>
          </a:p>
        </p:txBody>
      </p:sp>
      <p:sp>
        <p:nvSpPr>
          <p:cNvPr id="6" name="flow-text-0"/>
          <p:cNvSpPr txBox="1"/>
          <p:nvPr/>
        </p:nvSpPr>
        <p:spPr>
          <a:xfrm>
            <a:off x="54864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PDF · TXT · Web</a:t>
            </a:r>
            <a:endParaRPr lang="en-US" sz="1300" dirty="0"/>
          </a:p>
        </p:txBody>
      </p:sp>
      <p:sp>
        <p:nvSpPr>
          <p:cNvPr id="7" name="flow-arrow-0"/>
          <p:cNvSpPr/>
          <p:nvPr/>
        </p:nvSpPr>
        <p:spPr>
          <a:xfrm>
            <a:off x="1965960" y="2057400"/>
            <a:ext cx="411480" cy="256032"/>
          </a:xfrm>
          <a:prstGeom prst="rightArrow">
            <a:avLst/>
          </a:prstGeom>
          <a:solidFill>
            <a:schemeClr val="accent3"/>
          </a:solidFill>
          <a:ln w="12700">
            <a:solidFill>
              <a:schemeClr val="accent3"/>
            </a:solidFill>
            <a:prstDash val="solid"/>
          </a:ln>
        </p:spPr>
      </p:sp>
      <p:sp>
        <p:nvSpPr>
          <p:cNvPr id="8" name="flow-icon-1-circle"/>
          <p:cNvSpPr/>
          <p:nvPr/>
        </p:nvSpPr>
        <p:spPr>
          <a:xfrm>
            <a:off x="2880360" y="1737360"/>
            <a:ext cx="868680" cy="868680"/>
          </a:xfrm>
          <a:prstGeom prst="ellipse">
            <a:avLst/>
          </a:prstGeom>
          <a:solidFill>
            <a:schemeClr val="accent1"/>
          </a:solidFill>
          <a:ln w="12700">
            <a:solidFill>
              <a:schemeClr val="accent1"/>
            </a:solidFill>
            <a:prstDash val="solid"/>
          </a:ln>
        </p:spPr>
      </p:sp>
      <p:pic>
        <p:nvPicPr>
          <p:cNvPr id="9" name="flow-icon-1" descr="preencoded.png"/>
          <p:cNvPicPr>
            <a:picLocks noChangeAspect="1"/>
          </p:cNvPicPr>
          <p:nvPr/>
        </p:nvPicPr>
        <p:blipFill>
          <a:blip r:embed="rId4"/>
          <a:stretch>
            <a:fillRect/>
          </a:stretch>
        </p:blipFill>
        <p:spPr>
          <a:xfrm>
            <a:off x="3106217" y="1963217"/>
            <a:ext cx="416966" cy="416966"/>
          </a:xfrm>
          <a:prstGeom prst="rect">
            <a:avLst/>
          </a:prstGeom>
        </p:spPr>
      </p:pic>
      <p:sp>
        <p:nvSpPr>
          <p:cNvPr id="10" name="flow-title-1"/>
          <p:cNvSpPr txBox="1"/>
          <p:nvPr/>
        </p:nvSpPr>
        <p:spPr>
          <a:xfrm>
            <a:off x="246888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Chunk</a:t>
            </a:r>
            <a:endParaRPr lang="en-US" sz="1600" dirty="0"/>
          </a:p>
        </p:txBody>
      </p:sp>
      <p:sp>
        <p:nvSpPr>
          <p:cNvPr id="11" name="flow-text-1"/>
          <p:cNvSpPr txBox="1"/>
          <p:nvPr/>
        </p:nvSpPr>
        <p:spPr>
          <a:xfrm>
            <a:off x="246888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SentenceSplitter</a:t>
            </a:r>
            <a:endParaRPr lang="en-US" sz="1300" dirty="0"/>
          </a:p>
        </p:txBody>
      </p:sp>
      <p:sp>
        <p:nvSpPr>
          <p:cNvPr id="12" name="flow-arrow-1"/>
          <p:cNvSpPr/>
          <p:nvPr/>
        </p:nvSpPr>
        <p:spPr>
          <a:xfrm>
            <a:off x="3886200" y="2057400"/>
            <a:ext cx="411480" cy="256032"/>
          </a:xfrm>
          <a:prstGeom prst="rightArrow">
            <a:avLst/>
          </a:prstGeom>
          <a:solidFill>
            <a:schemeClr val="accent3"/>
          </a:solidFill>
          <a:ln w="12700">
            <a:solidFill>
              <a:schemeClr val="accent3"/>
            </a:solidFill>
            <a:prstDash val="solid"/>
          </a:ln>
        </p:spPr>
      </p:sp>
      <p:sp>
        <p:nvSpPr>
          <p:cNvPr id="13" name="flow-icon-2-circle"/>
          <p:cNvSpPr/>
          <p:nvPr/>
        </p:nvSpPr>
        <p:spPr>
          <a:xfrm>
            <a:off x="4800600" y="1737360"/>
            <a:ext cx="868680" cy="868680"/>
          </a:xfrm>
          <a:prstGeom prst="ellipse">
            <a:avLst/>
          </a:prstGeom>
          <a:solidFill>
            <a:schemeClr val="accent1"/>
          </a:solidFill>
          <a:ln w="12700">
            <a:solidFill>
              <a:schemeClr val="accent1"/>
            </a:solidFill>
            <a:prstDash val="solid"/>
          </a:ln>
        </p:spPr>
      </p:sp>
      <p:pic>
        <p:nvPicPr>
          <p:cNvPr id="14" name="flow-icon-2" descr="preencoded.png"/>
          <p:cNvPicPr>
            <a:picLocks noChangeAspect="1"/>
          </p:cNvPicPr>
          <p:nvPr/>
        </p:nvPicPr>
        <p:blipFill>
          <a:blip r:embed="rId5"/>
          <a:stretch>
            <a:fillRect/>
          </a:stretch>
        </p:blipFill>
        <p:spPr>
          <a:xfrm>
            <a:off x="5026457" y="1963217"/>
            <a:ext cx="416966" cy="416966"/>
          </a:xfrm>
          <a:prstGeom prst="rect">
            <a:avLst/>
          </a:prstGeom>
        </p:spPr>
      </p:pic>
      <p:sp>
        <p:nvSpPr>
          <p:cNvPr id="15" name="flow-title-2"/>
          <p:cNvSpPr txBox="1"/>
          <p:nvPr/>
        </p:nvSpPr>
        <p:spPr>
          <a:xfrm>
            <a:off x="438912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Embed + Index</a:t>
            </a:r>
            <a:endParaRPr lang="en-US" sz="1600" dirty="0"/>
          </a:p>
        </p:txBody>
      </p:sp>
      <p:sp>
        <p:nvSpPr>
          <p:cNvPr id="16" name="flow-text-2"/>
          <p:cNvSpPr txBox="1"/>
          <p:nvPr/>
        </p:nvSpPr>
        <p:spPr>
          <a:xfrm>
            <a:off x="438912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VectorStoreIndex</a:t>
            </a:r>
            <a:endParaRPr lang="en-US" sz="1300" dirty="0"/>
          </a:p>
        </p:txBody>
      </p:sp>
      <p:sp>
        <p:nvSpPr>
          <p:cNvPr id="17" name="flow-arrow-2"/>
          <p:cNvSpPr/>
          <p:nvPr/>
        </p:nvSpPr>
        <p:spPr>
          <a:xfrm>
            <a:off x="5806440" y="2057400"/>
            <a:ext cx="411480" cy="256032"/>
          </a:xfrm>
          <a:prstGeom prst="rightArrow">
            <a:avLst/>
          </a:prstGeom>
          <a:solidFill>
            <a:schemeClr val="accent3"/>
          </a:solidFill>
          <a:ln w="12700">
            <a:solidFill>
              <a:schemeClr val="accent3"/>
            </a:solidFill>
            <a:prstDash val="solid"/>
          </a:ln>
        </p:spPr>
      </p:sp>
      <p:sp>
        <p:nvSpPr>
          <p:cNvPr id="18" name="flow-icon-3-circle"/>
          <p:cNvSpPr/>
          <p:nvPr/>
        </p:nvSpPr>
        <p:spPr>
          <a:xfrm>
            <a:off x="6720840" y="1737360"/>
            <a:ext cx="868680" cy="868680"/>
          </a:xfrm>
          <a:prstGeom prst="ellipse">
            <a:avLst/>
          </a:prstGeom>
          <a:solidFill>
            <a:schemeClr val="accent1"/>
          </a:solidFill>
          <a:ln w="12700">
            <a:solidFill>
              <a:schemeClr val="accent1"/>
            </a:solidFill>
            <a:prstDash val="solid"/>
          </a:ln>
        </p:spPr>
      </p:sp>
      <p:pic>
        <p:nvPicPr>
          <p:cNvPr id="19" name="flow-icon-3" descr="preencoded.png"/>
          <p:cNvPicPr>
            <a:picLocks noChangeAspect="1"/>
          </p:cNvPicPr>
          <p:nvPr/>
        </p:nvPicPr>
        <p:blipFill>
          <a:blip r:embed="rId6"/>
          <a:stretch>
            <a:fillRect/>
          </a:stretch>
        </p:blipFill>
        <p:spPr>
          <a:xfrm>
            <a:off x="6946697" y="1963217"/>
            <a:ext cx="416966" cy="416966"/>
          </a:xfrm>
          <a:prstGeom prst="rect">
            <a:avLst/>
          </a:prstGeom>
        </p:spPr>
      </p:pic>
      <p:sp>
        <p:nvSpPr>
          <p:cNvPr id="20" name="flow-title-3"/>
          <p:cNvSpPr txBox="1"/>
          <p:nvPr/>
        </p:nvSpPr>
        <p:spPr>
          <a:xfrm>
            <a:off x="630936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Retrieve</a:t>
            </a:r>
            <a:endParaRPr lang="en-US" sz="1600" dirty="0"/>
          </a:p>
        </p:txBody>
      </p:sp>
      <p:sp>
        <p:nvSpPr>
          <p:cNvPr id="21" name="flow-text-3"/>
          <p:cNvSpPr txBox="1"/>
          <p:nvPr/>
        </p:nvSpPr>
        <p:spPr>
          <a:xfrm>
            <a:off x="630936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top-k + filters</a:t>
            </a:r>
            <a:endParaRPr lang="en-US" sz="1300" dirty="0"/>
          </a:p>
        </p:txBody>
      </p:sp>
      <p:sp>
        <p:nvSpPr>
          <p:cNvPr id="22" name="flow-arrow-3"/>
          <p:cNvSpPr/>
          <p:nvPr/>
        </p:nvSpPr>
        <p:spPr>
          <a:xfrm>
            <a:off x="7726680" y="2057400"/>
            <a:ext cx="411480" cy="256032"/>
          </a:xfrm>
          <a:prstGeom prst="rightArrow">
            <a:avLst/>
          </a:prstGeom>
          <a:solidFill>
            <a:schemeClr val="accent3"/>
          </a:solidFill>
          <a:ln w="12700">
            <a:solidFill>
              <a:schemeClr val="accent3"/>
            </a:solidFill>
            <a:prstDash val="solid"/>
          </a:ln>
        </p:spPr>
      </p:sp>
      <p:sp>
        <p:nvSpPr>
          <p:cNvPr id="23" name="flow-icon-4-circle"/>
          <p:cNvSpPr/>
          <p:nvPr/>
        </p:nvSpPr>
        <p:spPr>
          <a:xfrm>
            <a:off x="8641080" y="1737360"/>
            <a:ext cx="868680" cy="868680"/>
          </a:xfrm>
          <a:prstGeom prst="ellipse">
            <a:avLst/>
          </a:prstGeom>
          <a:solidFill>
            <a:schemeClr val="accent2"/>
          </a:solidFill>
          <a:ln w="12700">
            <a:solidFill>
              <a:schemeClr val="accent2"/>
            </a:solidFill>
            <a:prstDash val="solid"/>
          </a:ln>
        </p:spPr>
      </p:sp>
      <p:pic>
        <p:nvPicPr>
          <p:cNvPr id="24" name="flow-icon-4" descr="preencoded.png"/>
          <p:cNvPicPr>
            <a:picLocks noChangeAspect="1"/>
          </p:cNvPicPr>
          <p:nvPr/>
        </p:nvPicPr>
        <p:blipFill>
          <a:blip r:embed="rId7"/>
          <a:stretch>
            <a:fillRect/>
          </a:stretch>
        </p:blipFill>
        <p:spPr>
          <a:xfrm>
            <a:off x="8866937" y="1963217"/>
            <a:ext cx="416966" cy="416966"/>
          </a:xfrm>
          <a:prstGeom prst="rect">
            <a:avLst/>
          </a:prstGeom>
        </p:spPr>
      </p:pic>
      <p:sp>
        <p:nvSpPr>
          <p:cNvPr id="25" name="flow-title-4"/>
          <p:cNvSpPr txBox="1"/>
          <p:nvPr/>
        </p:nvSpPr>
        <p:spPr>
          <a:xfrm>
            <a:off x="822960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Prompt + LLM</a:t>
            </a:r>
            <a:endParaRPr lang="en-US" sz="1600" dirty="0"/>
          </a:p>
        </p:txBody>
      </p:sp>
      <p:sp>
        <p:nvSpPr>
          <p:cNvPr id="26" name="flow-text-4"/>
          <p:cNvSpPr txBox="1"/>
          <p:nvPr/>
        </p:nvSpPr>
        <p:spPr>
          <a:xfrm>
            <a:off x="822960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Groq / OpenAI</a:t>
            </a:r>
            <a:endParaRPr lang="en-US" sz="1300" dirty="0"/>
          </a:p>
        </p:txBody>
      </p:sp>
      <p:sp>
        <p:nvSpPr>
          <p:cNvPr id="27" name="flow-arrow-4"/>
          <p:cNvSpPr/>
          <p:nvPr/>
        </p:nvSpPr>
        <p:spPr>
          <a:xfrm>
            <a:off x="9646920" y="2057400"/>
            <a:ext cx="411480" cy="256032"/>
          </a:xfrm>
          <a:prstGeom prst="rightArrow">
            <a:avLst/>
          </a:prstGeom>
          <a:solidFill>
            <a:schemeClr val="accent3"/>
          </a:solidFill>
          <a:ln w="12700">
            <a:solidFill>
              <a:schemeClr val="accent3"/>
            </a:solidFill>
            <a:prstDash val="solid"/>
          </a:ln>
        </p:spPr>
      </p:sp>
      <p:sp>
        <p:nvSpPr>
          <p:cNvPr id="28" name="flow-icon-5-circle"/>
          <p:cNvSpPr/>
          <p:nvPr/>
        </p:nvSpPr>
        <p:spPr>
          <a:xfrm>
            <a:off x="10561320" y="1737360"/>
            <a:ext cx="868680" cy="868680"/>
          </a:xfrm>
          <a:prstGeom prst="ellipse">
            <a:avLst/>
          </a:prstGeom>
          <a:solidFill>
            <a:schemeClr val="accent2"/>
          </a:solidFill>
          <a:ln w="12700">
            <a:solidFill>
              <a:schemeClr val="accent2"/>
            </a:solidFill>
            <a:prstDash val="solid"/>
          </a:ln>
        </p:spPr>
      </p:sp>
      <p:pic>
        <p:nvPicPr>
          <p:cNvPr id="29" name="flow-icon-5" descr="preencoded.png"/>
          <p:cNvPicPr>
            <a:picLocks noChangeAspect="1"/>
          </p:cNvPicPr>
          <p:nvPr/>
        </p:nvPicPr>
        <p:blipFill>
          <a:blip r:embed="rId8"/>
          <a:stretch>
            <a:fillRect/>
          </a:stretch>
        </p:blipFill>
        <p:spPr>
          <a:xfrm>
            <a:off x="10787177" y="1963217"/>
            <a:ext cx="416966" cy="416966"/>
          </a:xfrm>
          <a:prstGeom prst="rect">
            <a:avLst/>
          </a:prstGeom>
        </p:spPr>
      </p:pic>
      <p:sp>
        <p:nvSpPr>
          <p:cNvPr id="30" name="flow-title-5"/>
          <p:cNvSpPr txBox="1"/>
          <p:nvPr/>
        </p:nvSpPr>
        <p:spPr>
          <a:xfrm>
            <a:off x="10149840" y="2743200"/>
            <a:ext cx="1691640" cy="365760"/>
          </a:xfrm>
          <a:prstGeom prst="rect">
            <a:avLst/>
          </a:prstGeom>
          <a:noFill/>
          <a:ln/>
        </p:spPr>
        <p:txBody>
          <a:bodyPr wrap="square" lIns="0" tIns="0" rIns="0" bIns="0" rtlCol="0" anchor="t"/>
          <a:lstStyle/>
          <a:p>
            <a:pPr marL="0" indent="0" algn="ctr">
              <a:buNone/>
            </a:pPr>
            <a:r>
              <a:rPr lang="en-US" sz="1600" b="1" dirty="0">
                <a:solidFill>
                  <a:schemeClr val="tx2"/>
                </a:solidFill>
              </a:rPr>
              <a:t>Parse + Cite</a:t>
            </a:r>
            <a:endParaRPr lang="en-US" sz="1600" dirty="0"/>
          </a:p>
        </p:txBody>
      </p:sp>
      <p:sp>
        <p:nvSpPr>
          <p:cNvPr id="31" name="flow-text-5"/>
          <p:cNvSpPr txBox="1"/>
          <p:nvPr/>
        </p:nvSpPr>
        <p:spPr>
          <a:xfrm>
            <a:off x="10149840" y="3108960"/>
            <a:ext cx="1691640" cy="365760"/>
          </a:xfrm>
          <a:prstGeom prst="rect">
            <a:avLst/>
          </a:prstGeom>
          <a:noFill/>
          <a:ln/>
        </p:spPr>
        <p:txBody>
          <a:bodyPr wrap="square" lIns="0" tIns="0" rIns="0" bIns="0" rtlCol="0" anchor="t"/>
          <a:lstStyle/>
          <a:p>
            <a:pPr marL="0" indent="0" algn="ctr">
              <a:buNone/>
            </a:pPr>
            <a:r>
              <a:rPr lang="en-US" sz="1300" dirty="0">
                <a:solidFill>
                  <a:schemeClr val="accent3"/>
                </a:solidFill>
              </a:rPr>
              <a:t>Answer + sources</a:t>
            </a:r>
            <a:endParaRPr lang="en-US" sz="1300" dirty="0"/>
          </a:p>
        </p:txBody>
      </p:sp>
      <p:sp>
        <p:nvSpPr>
          <p:cNvPr id="32" name="flow-band-li"/>
          <p:cNvSpPr/>
          <p:nvPr/>
        </p:nvSpPr>
        <p:spPr>
          <a:xfrm>
            <a:off x="548640" y="3977640"/>
            <a:ext cx="5486400" cy="502920"/>
          </a:xfrm>
          <a:prstGeom prst="roundRect">
            <a:avLst>
              <a:gd name="adj" fmla="val 18182"/>
            </a:avLst>
          </a:prstGeom>
          <a:solidFill>
            <a:schemeClr val="accent4"/>
          </a:solidFill>
          <a:ln w="12700">
            <a:solidFill>
              <a:schemeClr val="accent4"/>
            </a:solidFill>
            <a:prstDash val="solid"/>
          </a:ln>
        </p:spPr>
      </p:sp>
      <p:sp>
        <p:nvSpPr>
          <p:cNvPr id="33" name="flow-band-li-text"/>
          <p:cNvSpPr txBox="1"/>
          <p:nvPr/>
        </p:nvSpPr>
        <p:spPr>
          <a:xfrm>
            <a:off x="731520" y="3977640"/>
            <a:ext cx="5120640" cy="502920"/>
          </a:xfrm>
          <a:prstGeom prst="rect">
            <a:avLst/>
          </a:prstGeom>
          <a:noFill/>
          <a:ln/>
        </p:spPr>
        <p:txBody>
          <a:bodyPr wrap="square" lIns="0" tIns="0" rIns="0" bIns="0" rtlCol="0" anchor="ctr"/>
          <a:lstStyle/>
          <a:p>
            <a:pPr marL="0" indent="0">
              <a:buNone/>
            </a:pPr>
            <a:r>
              <a:rPr lang="en-US" sz="1500" b="1" dirty="0">
                <a:solidFill>
                  <a:schemeClr val="tx2"/>
                </a:solidFill>
              </a:rPr>
              <a:t>LlamaIndex: ingestion → indexing → retrieval</a:t>
            </a:r>
            <a:endParaRPr lang="en-US" sz="1500" dirty="0"/>
          </a:p>
        </p:txBody>
      </p:sp>
      <p:sp>
        <p:nvSpPr>
          <p:cNvPr id="34" name="flow-band-lc"/>
          <p:cNvSpPr/>
          <p:nvPr/>
        </p:nvSpPr>
        <p:spPr>
          <a:xfrm>
            <a:off x="7955280" y="3977640"/>
            <a:ext cx="3657600" cy="502920"/>
          </a:xfrm>
          <a:prstGeom prst="roundRect">
            <a:avLst>
              <a:gd name="adj" fmla="val 18182"/>
            </a:avLst>
          </a:prstGeom>
          <a:solidFill>
            <a:schemeClr val="accent5"/>
          </a:solidFill>
          <a:ln w="12700">
            <a:solidFill>
              <a:schemeClr val="accent5"/>
            </a:solidFill>
            <a:prstDash val="solid"/>
          </a:ln>
        </p:spPr>
      </p:sp>
      <p:sp>
        <p:nvSpPr>
          <p:cNvPr id="35" name="flow-band-lc-text"/>
          <p:cNvSpPr txBox="1"/>
          <p:nvPr/>
        </p:nvSpPr>
        <p:spPr>
          <a:xfrm>
            <a:off x="8138160" y="3977640"/>
            <a:ext cx="3291840" cy="502920"/>
          </a:xfrm>
          <a:prstGeom prst="rect">
            <a:avLst/>
          </a:prstGeom>
          <a:noFill/>
          <a:ln/>
        </p:spPr>
        <p:txBody>
          <a:bodyPr wrap="square" lIns="0" tIns="0" rIns="0" bIns="0" rtlCol="0" anchor="ctr"/>
          <a:lstStyle/>
          <a:p>
            <a:pPr marL="0" indent="0">
              <a:buNone/>
            </a:pPr>
            <a:r>
              <a:rPr lang="en-US" sz="1500" b="1" dirty="0">
                <a:solidFill>
                  <a:schemeClr val="tx2"/>
                </a:solidFill>
              </a:rPr>
              <a:t>LangChain: generation + parsing</a:t>
            </a:r>
            <a:endParaRPr lang="en-US" sz="1500" dirty="0"/>
          </a:p>
        </p:txBody>
      </p:sp>
      <p:sp>
        <p:nvSpPr>
          <p:cNvPr id="36" name="flow-bridge"/>
          <p:cNvSpPr txBox="1"/>
          <p:nvPr/>
        </p:nvSpPr>
        <p:spPr>
          <a:xfrm>
            <a:off x="548640" y="4846320"/>
            <a:ext cx="11064240" cy="822960"/>
          </a:xfrm>
          <a:prstGeom prst="rect">
            <a:avLst/>
          </a:prstGeom>
          <a:noFill/>
          <a:ln/>
        </p:spPr>
        <p:txBody>
          <a:bodyPr wrap="square" lIns="0" tIns="0" rIns="0" bIns="0" rtlCol="0" anchor="t"/>
          <a:lstStyle/>
          <a:p>
            <a:pPr marL="0" indent="0">
              <a:buNone/>
            </a:pPr>
            <a:r>
              <a:rPr lang="en-US" sz="1600" b="1" dirty="0">
                <a:solidFill>
                  <a:schemeClr val="tx2"/>
                </a:solidFill>
              </a:rPr>
              <a:t>Bridge: </a:t>
            </a:r>
            <a:r>
              <a:rPr lang="en-US" sz="1600" dirty="0">
                <a:solidFill>
                  <a:schemeClr val="tx1"/>
                </a:solidFill>
              </a:rPr>
              <a:t>the LlamaIndex retriever is wrapped in a LangChain RunnableLambda, so retrieval becomes one step of the LCEL chain (question → context → prompt → LLM → parser).</a:t>
            </a:r>
            <a:endParaRPr lang="en-US" sz="16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 stack and key settings</a:t>
            </a:r>
            <a:endParaRPr lang="en-US" sz="3400" dirty="0"/>
          </a:p>
        </p:txBody>
      </p:sp>
      <p:sp>
        <p:nvSpPr>
          <p:cNvPr id="3" name="stat-card-0"/>
          <p:cNvSpPr/>
          <p:nvPr/>
        </p:nvSpPr>
        <p:spPr>
          <a:xfrm>
            <a:off x="548640" y="1417320"/>
            <a:ext cx="3520440" cy="2011680"/>
          </a:xfrm>
          <a:prstGeom prst="roundRect">
            <a:avLst>
              <a:gd name="adj" fmla="val 4545"/>
            </a:avLst>
          </a:prstGeom>
          <a:solidFill>
            <a:schemeClr val="bg2"/>
          </a:solidFill>
          <a:ln w="12700">
            <a:solidFill>
              <a:schemeClr val="bg2"/>
            </a:solidFill>
            <a:prstDash val="solid"/>
          </a:ln>
        </p:spPr>
      </p:sp>
      <p:sp>
        <p:nvSpPr>
          <p:cNvPr id="4" name="stat-num-0"/>
          <p:cNvSpPr txBox="1"/>
          <p:nvPr/>
        </p:nvSpPr>
        <p:spPr>
          <a:xfrm>
            <a:off x="822960" y="155448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512</a:t>
            </a:r>
            <a:endParaRPr lang="en-US" sz="5400" dirty="0"/>
          </a:p>
        </p:txBody>
      </p:sp>
      <p:sp>
        <p:nvSpPr>
          <p:cNvPr id="5" name="stat-label-0"/>
          <p:cNvSpPr txBox="1"/>
          <p:nvPr/>
        </p:nvSpPr>
        <p:spPr>
          <a:xfrm>
            <a:off x="822960" y="2468880"/>
            <a:ext cx="3017520" cy="365760"/>
          </a:xfrm>
          <a:prstGeom prst="rect">
            <a:avLst/>
          </a:prstGeom>
          <a:noFill/>
          <a:ln/>
        </p:spPr>
        <p:txBody>
          <a:bodyPr wrap="square" lIns="0" tIns="0" rIns="0" bIns="0" rtlCol="0" anchor="t"/>
          <a:lstStyle/>
          <a:p>
            <a:pPr marL="0" indent="0">
              <a:buNone/>
            </a:pPr>
            <a:r>
              <a:rPr lang="en-US" sz="1600" b="1" dirty="0">
                <a:solidFill>
                  <a:schemeClr val="tx2"/>
                </a:solidFill>
              </a:rPr>
              <a:t>tokens per chunk</a:t>
            </a:r>
            <a:endParaRPr lang="en-US" sz="1600" dirty="0"/>
          </a:p>
        </p:txBody>
      </p:sp>
      <p:sp>
        <p:nvSpPr>
          <p:cNvPr id="6" name="stat-sub-0"/>
          <p:cNvSpPr txBox="1"/>
          <p:nvPr/>
        </p:nvSpPr>
        <p:spPr>
          <a:xfrm>
            <a:off x="822960" y="2834640"/>
            <a:ext cx="3017520" cy="365760"/>
          </a:xfrm>
          <a:prstGeom prst="rect">
            <a:avLst/>
          </a:prstGeom>
          <a:noFill/>
          <a:ln/>
        </p:spPr>
        <p:txBody>
          <a:bodyPr wrap="square" lIns="0" tIns="0" rIns="0" bIns="0" rtlCol="0" anchor="t"/>
          <a:lstStyle/>
          <a:p>
            <a:pPr marL="0" indent="0">
              <a:buNone/>
            </a:pPr>
            <a:r>
              <a:rPr lang="en-US" sz="1300" dirty="0">
                <a:solidFill>
                  <a:schemeClr val="accent3"/>
                </a:solidFill>
              </a:rPr>
              <a:t>50-token overlap</a:t>
            </a:r>
            <a:endParaRPr lang="en-US" sz="1300" dirty="0"/>
          </a:p>
        </p:txBody>
      </p:sp>
      <p:sp>
        <p:nvSpPr>
          <p:cNvPr id="7" name="stat-card-1"/>
          <p:cNvSpPr/>
          <p:nvPr/>
        </p:nvSpPr>
        <p:spPr>
          <a:xfrm>
            <a:off x="4297680" y="1417320"/>
            <a:ext cx="3520440" cy="2011680"/>
          </a:xfrm>
          <a:prstGeom prst="roundRect">
            <a:avLst>
              <a:gd name="adj" fmla="val 4545"/>
            </a:avLst>
          </a:prstGeom>
          <a:solidFill>
            <a:schemeClr val="bg2"/>
          </a:solidFill>
          <a:ln w="12700">
            <a:solidFill>
              <a:schemeClr val="bg2"/>
            </a:solidFill>
            <a:prstDash val="solid"/>
          </a:ln>
        </p:spPr>
      </p:sp>
      <p:sp>
        <p:nvSpPr>
          <p:cNvPr id="8" name="stat-num-1"/>
          <p:cNvSpPr txBox="1"/>
          <p:nvPr/>
        </p:nvSpPr>
        <p:spPr>
          <a:xfrm>
            <a:off x="4572000" y="155448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384</a:t>
            </a:r>
            <a:endParaRPr lang="en-US" sz="5400" dirty="0"/>
          </a:p>
        </p:txBody>
      </p:sp>
      <p:sp>
        <p:nvSpPr>
          <p:cNvPr id="9" name="stat-label-1"/>
          <p:cNvSpPr txBox="1"/>
          <p:nvPr/>
        </p:nvSpPr>
        <p:spPr>
          <a:xfrm>
            <a:off x="4572000" y="2468880"/>
            <a:ext cx="3017520" cy="365760"/>
          </a:xfrm>
          <a:prstGeom prst="rect">
            <a:avLst/>
          </a:prstGeom>
          <a:noFill/>
          <a:ln/>
        </p:spPr>
        <p:txBody>
          <a:bodyPr wrap="square" lIns="0" tIns="0" rIns="0" bIns="0" rtlCol="0" anchor="t"/>
          <a:lstStyle/>
          <a:p>
            <a:pPr marL="0" indent="0">
              <a:buNone/>
            </a:pPr>
            <a:r>
              <a:rPr lang="en-US" sz="1600" b="1" dirty="0">
                <a:solidFill>
                  <a:schemeClr val="tx2"/>
                </a:solidFill>
              </a:rPr>
              <a:t>embedding dimensions</a:t>
            </a:r>
            <a:endParaRPr lang="en-US" sz="1600" dirty="0"/>
          </a:p>
        </p:txBody>
      </p:sp>
      <p:sp>
        <p:nvSpPr>
          <p:cNvPr id="10" name="stat-sub-1"/>
          <p:cNvSpPr txBox="1"/>
          <p:nvPr/>
        </p:nvSpPr>
        <p:spPr>
          <a:xfrm>
            <a:off x="4572000" y="2834640"/>
            <a:ext cx="3017520" cy="365760"/>
          </a:xfrm>
          <a:prstGeom prst="rect">
            <a:avLst/>
          </a:prstGeom>
          <a:noFill/>
          <a:ln/>
        </p:spPr>
        <p:txBody>
          <a:bodyPr wrap="square" lIns="0" tIns="0" rIns="0" bIns="0" rtlCol="0" anchor="t"/>
          <a:lstStyle/>
          <a:p>
            <a:pPr marL="0" indent="0">
              <a:buNone/>
            </a:pPr>
            <a:r>
              <a:rPr lang="en-US" sz="1300" dirty="0">
                <a:solidFill>
                  <a:schemeClr val="accent3"/>
                </a:solidFill>
              </a:rPr>
              <a:t>all-MiniLM-L6-v2 (local, free)</a:t>
            </a:r>
            <a:endParaRPr lang="en-US" sz="1300" dirty="0"/>
          </a:p>
        </p:txBody>
      </p:sp>
      <p:sp>
        <p:nvSpPr>
          <p:cNvPr id="11" name="stat-card-2"/>
          <p:cNvSpPr/>
          <p:nvPr/>
        </p:nvSpPr>
        <p:spPr>
          <a:xfrm>
            <a:off x="8046720" y="1417320"/>
            <a:ext cx="3520440" cy="2011680"/>
          </a:xfrm>
          <a:prstGeom prst="roundRect">
            <a:avLst>
              <a:gd name="adj" fmla="val 4545"/>
            </a:avLst>
          </a:prstGeom>
          <a:solidFill>
            <a:schemeClr val="bg2"/>
          </a:solidFill>
          <a:ln w="12700">
            <a:solidFill>
              <a:schemeClr val="bg2"/>
            </a:solidFill>
            <a:prstDash val="solid"/>
          </a:ln>
        </p:spPr>
      </p:sp>
      <p:sp>
        <p:nvSpPr>
          <p:cNvPr id="12" name="stat-num-2"/>
          <p:cNvSpPr txBox="1"/>
          <p:nvPr/>
        </p:nvSpPr>
        <p:spPr>
          <a:xfrm>
            <a:off x="8321040" y="155448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4</a:t>
            </a:r>
            <a:endParaRPr lang="en-US" sz="5400" dirty="0"/>
          </a:p>
        </p:txBody>
      </p:sp>
      <p:sp>
        <p:nvSpPr>
          <p:cNvPr id="13" name="stat-label-2"/>
          <p:cNvSpPr txBox="1"/>
          <p:nvPr/>
        </p:nvSpPr>
        <p:spPr>
          <a:xfrm>
            <a:off x="8321040" y="2468880"/>
            <a:ext cx="3017520" cy="365760"/>
          </a:xfrm>
          <a:prstGeom prst="rect">
            <a:avLst/>
          </a:prstGeom>
          <a:noFill/>
          <a:ln/>
        </p:spPr>
        <p:txBody>
          <a:bodyPr wrap="square" lIns="0" tIns="0" rIns="0" bIns="0" rtlCol="0" anchor="t"/>
          <a:lstStyle/>
          <a:p>
            <a:pPr marL="0" indent="0">
              <a:buNone/>
            </a:pPr>
            <a:r>
              <a:rPr lang="en-US" sz="1600" b="1" dirty="0">
                <a:solidFill>
                  <a:schemeClr val="tx2"/>
                </a:solidFill>
              </a:rPr>
              <a:t>chunks retrieved (top-k)</a:t>
            </a:r>
            <a:endParaRPr lang="en-US" sz="1600" dirty="0"/>
          </a:p>
        </p:txBody>
      </p:sp>
      <p:sp>
        <p:nvSpPr>
          <p:cNvPr id="14" name="stat-sub-2"/>
          <p:cNvSpPr txBox="1"/>
          <p:nvPr/>
        </p:nvSpPr>
        <p:spPr>
          <a:xfrm>
            <a:off x="8321040" y="2834640"/>
            <a:ext cx="3017520" cy="365760"/>
          </a:xfrm>
          <a:prstGeom prst="rect">
            <a:avLst/>
          </a:prstGeom>
          <a:noFill/>
          <a:ln/>
        </p:spPr>
        <p:txBody>
          <a:bodyPr wrap="square" lIns="0" tIns="0" rIns="0" bIns="0" rtlCol="0" anchor="t"/>
          <a:lstStyle/>
          <a:p>
            <a:pPr marL="0" indent="0">
              <a:buNone/>
            </a:pPr>
            <a:r>
              <a:rPr lang="en-US" sz="1300" dirty="0">
                <a:solidFill>
                  <a:schemeClr val="accent3"/>
                </a:solidFill>
              </a:rPr>
              <a:t>adjustable 1–10 in the app</a:t>
            </a:r>
            <a:endParaRPr lang="en-US" sz="1300" dirty="0"/>
          </a:p>
        </p:txBody>
      </p:sp>
      <p:graphicFrame>
        <p:nvGraphicFramePr>
          <p:cNvPr id="15" name="stack-table"/>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2304288"/>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Layer</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Technology</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LLM</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Groq openai/gpt-oss-20b (default) · OpenAI gpt-4o-mini (optional)</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Indexing / retrieval</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llama-index-core, llama-index-embeddings-huggingface, llama-index-readers-file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Orchestration</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langchain-core (prompts, LCEL, parsers), langchain-groq</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Web scraping</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requests + BeautifulSoup</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Dev → deploy</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VS Code (notebook + code) → GitHub repository → Streamlit Community Cloud</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Steps 1–5: setup, LLM and document ingestion</a:t>
            </a:r>
            <a:endParaRPr lang="en-US" sz="3400" dirty="0"/>
          </a:p>
        </p:txBody>
      </p:sp>
      <p:sp>
        <p:nvSpPr>
          <p:cNvPr id="3" name="step-dot-0"/>
          <p:cNvSpPr/>
          <p:nvPr/>
        </p:nvSpPr>
        <p:spPr>
          <a:xfrm>
            <a:off x="548640" y="1417320"/>
            <a:ext cx="548640" cy="548640"/>
          </a:xfrm>
          <a:prstGeom prst="ellipse">
            <a:avLst/>
          </a:prstGeom>
          <a:solidFill>
            <a:schemeClr val="accent1"/>
          </a:solidFill>
          <a:ln w="12700">
            <a:solidFill>
              <a:schemeClr val="accent1"/>
            </a:solidFill>
            <a:prstDash val="solid"/>
          </a:ln>
        </p:spPr>
      </p:sp>
      <p:sp>
        <p:nvSpPr>
          <p:cNvPr id="4" name="step-num-0"/>
          <p:cNvSpPr txBox="1"/>
          <p:nvPr/>
        </p:nvSpPr>
        <p:spPr>
          <a:xfrm>
            <a:off x="548640"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step-text-0"/>
          <p:cNvSpPr txBox="1"/>
          <p:nvPr/>
        </p:nvSpPr>
        <p:spPr>
          <a:xfrm>
            <a:off x="1280160" y="1417320"/>
            <a:ext cx="4023360" cy="548640"/>
          </a:xfrm>
          <a:prstGeom prst="rect">
            <a:avLst/>
          </a:prstGeom>
          <a:noFill/>
          <a:ln/>
        </p:spPr>
        <p:txBody>
          <a:bodyPr wrap="square" lIns="0" tIns="0" rIns="0" bIns="0" rtlCol="0" anchor="ctr"/>
          <a:lstStyle/>
          <a:p>
            <a:pPr marL="0" indent="0">
              <a:buNone/>
            </a:pPr>
            <a:r>
              <a:rPr lang="en-US" sz="1600" dirty="0">
                <a:solidFill>
                  <a:schemeClr val="tx1"/>
                </a:solidFill>
              </a:rPr>
              <a:t>Imports + .env keys</a:t>
            </a:r>
            <a:endParaRPr lang="en-US" sz="1600" dirty="0"/>
          </a:p>
        </p:txBody>
      </p:sp>
      <p:sp>
        <p:nvSpPr>
          <p:cNvPr id="6" name="step-dot-1"/>
          <p:cNvSpPr/>
          <p:nvPr/>
        </p:nvSpPr>
        <p:spPr>
          <a:xfrm>
            <a:off x="548640" y="2313432"/>
            <a:ext cx="548640" cy="548640"/>
          </a:xfrm>
          <a:prstGeom prst="ellipse">
            <a:avLst/>
          </a:prstGeom>
          <a:solidFill>
            <a:schemeClr val="accent1"/>
          </a:solidFill>
          <a:ln w="12700">
            <a:solidFill>
              <a:schemeClr val="accent1"/>
            </a:solidFill>
            <a:prstDash val="solid"/>
          </a:ln>
        </p:spPr>
      </p:sp>
      <p:sp>
        <p:nvSpPr>
          <p:cNvPr id="7" name="step-num-1"/>
          <p:cNvSpPr txBox="1"/>
          <p:nvPr/>
        </p:nvSpPr>
        <p:spPr>
          <a:xfrm>
            <a:off x="548640" y="2313432"/>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step-text-1"/>
          <p:cNvSpPr txBox="1"/>
          <p:nvPr/>
        </p:nvSpPr>
        <p:spPr>
          <a:xfrm>
            <a:off x="1280160" y="2313432"/>
            <a:ext cx="4023360" cy="548640"/>
          </a:xfrm>
          <a:prstGeom prst="rect">
            <a:avLst/>
          </a:prstGeom>
          <a:noFill/>
          <a:ln/>
        </p:spPr>
        <p:txBody>
          <a:bodyPr wrap="square" lIns="0" tIns="0" rIns="0" bIns="0" rtlCol="0" anchor="ctr"/>
          <a:lstStyle/>
          <a:p>
            <a:pPr marL="0" indent="0">
              <a:buNone/>
            </a:pPr>
            <a:r>
              <a:rPr lang="en-US" sz="1600" dirty="0">
                <a:solidFill>
                  <a:schemeClr val="tx1"/>
                </a:solidFill>
              </a:rPr>
              <a:t>Configuration (paths, chunking, models)</a:t>
            </a:r>
            <a:endParaRPr lang="en-US" sz="1600" dirty="0"/>
          </a:p>
        </p:txBody>
      </p:sp>
      <p:sp>
        <p:nvSpPr>
          <p:cNvPr id="9" name="step-dot-2"/>
          <p:cNvSpPr/>
          <p:nvPr/>
        </p:nvSpPr>
        <p:spPr>
          <a:xfrm>
            <a:off x="548640" y="3209544"/>
            <a:ext cx="548640" cy="548640"/>
          </a:xfrm>
          <a:prstGeom prst="ellipse">
            <a:avLst/>
          </a:prstGeom>
          <a:solidFill>
            <a:schemeClr val="accent1"/>
          </a:solidFill>
          <a:ln w="12700">
            <a:solidFill>
              <a:schemeClr val="accent1"/>
            </a:solidFill>
            <a:prstDash val="solid"/>
          </a:ln>
        </p:spPr>
      </p:sp>
      <p:sp>
        <p:nvSpPr>
          <p:cNvPr id="10" name="step-num-2"/>
          <p:cNvSpPr txBox="1"/>
          <p:nvPr/>
        </p:nvSpPr>
        <p:spPr>
          <a:xfrm>
            <a:off x="548640" y="3209544"/>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1" name="step-text-2"/>
          <p:cNvSpPr txBox="1"/>
          <p:nvPr/>
        </p:nvSpPr>
        <p:spPr>
          <a:xfrm>
            <a:off x="1280160" y="3209544"/>
            <a:ext cx="4023360" cy="548640"/>
          </a:xfrm>
          <a:prstGeom prst="rect">
            <a:avLst/>
          </a:prstGeom>
          <a:noFill/>
          <a:ln/>
        </p:spPr>
        <p:txBody>
          <a:bodyPr wrap="square" lIns="0" tIns="0" rIns="0" bIns="0" rtlCol="0" anchor="ctr"/>
          <a:lstStyle/>
          <a:p>
            <a:pPr marL="0" indent="0">
              <a:buNone/>
            </a:pPr>
            <a:r>
              <a:rPr lang="en-US" sz="1600" dirty="0">
                <a:solidFill>
                  <a:schemeClr val="tx1"/>
                </a:solidFill>
              </a:rPr>
              <a:t>LangChain LLM: ChatGroq / ChatOpenAI</a:t>
            </a:r>
            <a:endParaRPr lang="en-US" sz="1600" dirty="0"/>
          </a:p>
        </p:txBody>
      </p:sp>
      <p:sp>
        <p:nvSpPr>
          <p:cNvPr id="12" name="step-dot-3"/>
          <p:cNvSpPr/>
          <p:nvPr/>
        </p:nvSpPr>
        <p:spPr>
          <a:xfrm>
            <a:off x="548640" y="4105656"/>
            <a:ext cx="548640" cy="548640"/>
          </a:xfrm>
          <a:prstGeom prst="ellipse">
            <a:avLst/>
          </a:prstGeom>
          <a:solidFill>
            <a:schemeClr val="accent1"/>
          </a:solidFill>
          <a:ln w="12700">
            <a:solidFill>
              <a:schemeClr val="accent1"/>
            </a:solidFill>
            <a:prstDash val="solid"/>
          </a:ln>
        </p:spPr>
      </p:sp>
      <p:sp>
        <p:nvSpPr>
          <p:cNvPr id="13" name="step-num-3"/>
          <p:cNvSpPr txBox="1"/>
          <p:nvPr/>
        </p:nvSpPr>
        <p:spPr>
          <a:xfrm>
            <a:off x="548640" y="4105656"/>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4" name="step-text-3"/>
          <p:cNvSpPr txBox="1"/>
          <p:nvPr/>
        </p:nvSpPr>
        <p:spPr>
          <a:xfrm>
            <a:off x="1280160" y="4105656"/>
            <a:ext cx="4023360" cy="548640"/>
          </a:xfrm>
          <a:prstGeom prst="rect">
            <a:avLst/>
          </a:prstGeom>
          <a:noFill/>
          <a:ln/>
        </p:spPr>
        <p:txBody>
          <a:bodyPr wrap="square" lIns="0" tIns="0" rIns="0" bIns="0" rtlCol="0" anchor="ctr"/>
          <a:lstStyle/>
          <a:p>
            <a:pPr marL="0" indent="0">
              <a:buNone/>
            </a:pPr>
            <a:r>
              <a:rPr lang="en-US" sz="1600" dirty="0">
                <a:solidFill>
                  <a:schemeClr val="tx1"/>
                </a:solidFill>
              </a:rPr>
              <a:t>LlamaIndex Settings: embeddings + splitter</a:t>
            </a:r>
            <a:endParaRPr lang="en-US" sz="1600" dirty="0"/>
          </a:p>
        </p:txBody>
      </p:sp>
      <p:sp>
        <p:nvSpPr>
          <p:cNvPr id="15" name="step-dot-4"/>
          <p:cNvSpPr/>
          <p:nvPr/>
        </p:nvSpPr>
        <p:spPr>
          <a:xfrm>
            <a:off x="548640" y="5001768"/>
            <a:ext cx="548640" cy="548640"/>
          </a:xfrm>
          <a:prstGeom prst="ellipse">
            <a:avLst/>
          </a:prstGeom>
          <a:solidFill>
            <a:schemeClr val="accent1"/>
          </a:solidFill>
          <a:ln w="12700">
            <a:solidFill>
              <a:schemeClr val="accent1"/>
            </a:solidFill>
            <a:prstDash val="solid"/>
          </a:ln>
        </p:spPr>
      </p:sp>
      <p:sp>
        <p:nvSpPr>
          <p:cNvPr id="16" name="step-num-4"/>
          <p:cNvSpPr txBox="1"/>
          <p:nvPr/>
        </p:nvSpPr>
        <p:spPr>
          <a:xfrm>
            <a:off x="548640" y="500176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7" name="step-text-4"/>
          <p:cNvSpPr txBox="1"/>
          <p:nvPr/>
        </p:nvSpPr>
        <p:spPr>
          <a:xfrm>
            <a:off x="1280160" y="5001768"/>
            <a:ext cx="4023360" cy="548640"/>
          </a:xfrm>
          <a:prstGeom prst="rect">
            <a:avLst/>
          </a:prstGeom>
          <a:noFill/>
          <a:ln/>
        </p:spPr>
        <p:txBody>
          <a:bodyPr wrap="square" lIns="0" tIns="0" rIns="0" bIns="0" rtlCol="0" anchor="ctr"/>
          <a:lstStyle/>
          <a:p>
            <a:pPr marL="0" indent="0">
              <a:buNone/>
            </a:pPr>
            <a:r>
              <a:rPr lang="en-US" sz="1600" dirty="0">
                <a:solidFill>
                  <a:schemeClr val="tx1"/>
                </a:solidFill>
              </a:rPr>
              <a:t>Load files and web pages as Documents</a:t>
            </a:r>
            <a:endParaRPr lang="en-US" sz="1600" dirty="0"/>
          </a:p>
        </p:txBody>
      </p:sp>
      <p:sp>
        <p:nvSpPr>
          <p:cNvPr id="18" name="code-15-bg"/>
          <p:cNvSpPr/>
          <p:nvPr/>
        </p:nvSpPr>
        <p:spPr>
          <a:xfrm>
            <a:off x="5486400" y="1417320"/>
            <a:ext cx="6126480" cy="3072384"/>
          </a:xfrm>
          <a:prstGeom prst="roundRect">
            <a:avLst>
              <a:gd name="adj" fmla="val 2381"/>
            </a:avLst>
          </a:prstGeom>
          <a:solidFill>
            <a:schemeClr val="tx2"/>
          </a:solidFill>
          <a:ln w="12700">
            <a:solidFill>
              <a:schemeClr val="tx2"/>
            </a:solidFill>
            <a:prstDash val="solid"/>
          </a:ln>
        </p:spPr>
      </p:sp>
      <p:sp>
        <p:nvSpPr>
          <p:cNvPr id="19" name="code-15"/>
          <p:cNvSpPr txBox="1"/>
          <p:nvPr/>
        </p:nvSpPr>
        <p:spPr>
          <a:xfrm>
            <a:off x="5715000" y="1600200"/>
            <a:ext cx="5669280" cy="2706624"/>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def configure_llamaindex():</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Settings.embed_model = HuggingFaceEmbedding(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model_name=EMBED_MODEL_NAME)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Settings.node_parser = SentenceSplitter(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chunk_size=512, chunk_overlap=50)</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Settings.llm = None   # LLM handled by LangChain</a:t>
            </a:r>
            <a:endParaRPr lang="en-US" sz="1400" dirty="0"/>
          </a:p>
          <a:p>
            <a:pPr marL="0" indent="0">
              <a:buNone/>
            </a:pP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reader = SimpleDirectoryReader(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input_dir=DATA_DIR, recursive=True,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required_exts=[".pdf", ".txt", ".md", ".docx"])</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documents = reader.load_data()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Steps 6–7: vector index and semantic retrieval</a:t>
            </a:r>
            <a:endParaRPr lang="en-US" sz="3400" dirty="0"/>
          </a:p>
        </p:txBody>
      </p:sp>
      <p:sp>
        <p:nvSpPr>
          <p:cNvPr id="3" name="code-67-bg"/>
          <p:cNvSpPr/>
          <p:nvPr/>
        </p:nvSpPr>
        <p:spPr>
          <a:xfrm>
            <a:off x="548640" y="1417320"/>
            <a:ext cx="6400800" cy="3310128"/>
          </a:xfrm>
          <a:prstGeom prst="roundRect">
            <a:avLst>
              <a:gd name="adj" fmla="val 2210"/>
            </a:avLst>
          </a:prstGeom>
          <a:solidFill>
            <a:schemeClr val="tx2"/>
          </a:solidFill>
          <a:ln w="12700">
            <a:solidFill>
              <a:schemeClr val="tx2"/>
            </a:solidFill>
            <a:prstDash val="solid"/>
          </a:ln>
        </p:spPr>
      </p:sp>
      <p:sp>
        <p:nvSpPr>
          <p:cNvPr id="4" name="code-67"/>
          <p:cNvSpPr txBox="1"/>
          <p:nvPr/>
        </p:nvSpPr>
        <p:spPr>
          <a:xfrm>
            <a:off x="777240" y="1600200"/>
            <a:ext cx="5943600" cy="294436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index = VectorStoreIndex.from_documents(docs)</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index.storage_context.persist(STORAGE_DIR)</a:t>
            </a:r>
            <a:endParaRPr lang="en-US" sz="1400" dirty="0"/>
          </a:p>
          <a:p>
            <a:pPr marL="0" indent="0">
              <a:buNone/>
            </a:pP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def get_retriever(index, top_k=4, file_names=None):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filters = MetadataFilters(</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filters=[MetadataFilter(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key="file_name", value=name,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operator=FilterOperator.EQ)</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for name in file_names],</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condition=FilterCondition.OR)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return index.as_retriever(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similarity_top_k=top_k, filters=filters)</a:t>
            </a:r>
            <a:endParaRPr lang="en-US" sz="1400" dirty="0"/>
          </a:p>
        </p:txBody>
      </p:sp>
      <p:sp>
        <p:nvSpPr>
          <p:cNvPr id="5" name="idx-icon-0-circle"/>
          <p:cNvSpPr/>
          <p:nvPr/>
        </p:nvSpPr>
        <p:spPr>
          <a:xfrm>
            <a:off x="7315200" y="1417320"/>
            <a:ext cx="640080" cy="640080"/>
          </a:xfrm>
          <a:prstGeom prst="ellipse">
            <a:avLst/>
          </a:prstGeom>
          <a:solidFill>
            <a:schemeClr val="accent1"/>
          </a:solidFill>
          <a:ln w="12700">
            <a:solidFill>
              <a:schemeClr val="accent1"/>
            </a:solidFill>
            <a:prstDash val="solid"/>
          </a:ln>
        </p:spPr>
      </p:sp>
      <p:pic>
        <p:nvPicPr>
          <p:cNvPr id="6" name="idx-icon-0" descr="preencoded.png"/>
          <p:cNvPicPr>
            <a:picLocks noChangeAspect="1"/>
          </p:cNvPicPr>
          <p:nvPr/>
        </p:nvPicPr>
        <p:blipFill>
          <a:blip r:embed="rId3"/>
          <a:stretch>
            <a:fillRect/>
          </a:stretch>
        </p:blipFill>
        <p:spPr>
          <a:xfrm>
            <a:off x="7481621" y="1583741"/>
            <a:ext cx="307238" cy="307238"/>
          </a:xfrm>
          <a:prstGeom prst="rect">
            <a:avLst/>
          </a:prstGeom>
        </p:spPr>
      </p:pic>
      <p:sp>
        <p:nvSpPr>
          <p:cNvPr id="7" name="idx-head-0"/>
          <p:cNvSpPr txBox="1"/>
          <p:nvPr/>
        </p:nvSpPr>
        <p:spPr>
          <a:xfrm>
            <a:off x="8138160" y="1417320"/>
            <a:ext cx="3474720" cy="365760"/>
          </a:xfrm>
          <a:prstGeom prst="rect">
            <a:avLst/>
          </a:prstGeom>
          <a:noFill/>
          <a:ln/>
        </p:spPr>
        <p:txBody>
          <a:bodyPr wrap="square" lIns="0" tIns="0" rIns="0" bIns="0" rtlCol="0" anchor="t"/>
          <a:lstStyle/>
          <a:p>
            <a:pPr marL="0" indent="0">
              <a:buNone/>
            </a:pPr>
            <a:r>
              <a:rPr lang="en-US" sz="1700" b="1" dirty="0">
                <a:solidFill>
                  <a:schemeClr val="tx2"/>
                </a:solidFill>
              </a:rPr>
              <a:t>Persisted index</a:t>
            </a:r>
            <a:endParaRPr lang="en-US" sz="1700" dirty="0"/>
          </a:p>
        </p:txBody>
      </p:sp>
      <p:sp>
        <p:nvSpPr>
          <p:cNvPr id="8" name="idx-text-0"/>
          <p:cNvSpPr txBox="1"/>
          <p:nvPr/>
        </p:nvSpPr>
        <p:spPr>
          <a:xfrm>
            <a:off x="8138160" y="1801368"/>
            <a:ext cx="3474720" cy="822960"/>
          </a:xfrm>
          <a:prstGeom prst="rect">
            <a:avLst/>
          </a:prstGeom>
          <a:noFill/>
          <a:ln/>
        </p:spPr>
        <p:txBody>
          <a:bodyPr wrap="square" lIns="0" tIns="0" rIns="0" bIns="0" rtlCol="0" anchor="t"/>
          <a:lstStyle/>
          <a:p>
            <a:pPr marL="0" indent="0">
              <a:buNone/>
            </a:pPr>
            <a:r>
              <a:rPr lang="en-US" sz="1400" dirty="0">
                <a:solidFill>
                  <a:schemeClr val="accent3"/>
                </a:solidFill>
              </a:rPr>
              <a:t>Saved to storage/ and reloaded instantly on the next run</a:t>
            </a:r>
            <a:endParaRPr lang="en-US" sz="1400" dirty="0"/>
          </a:p>
        </p:txBody>
      </p:sp>
      <p:sp>
        <p:nvSpPr>
          <p:cNvPr id="9" name="idx-icon-1-circle"/>
          <p:cNvSpPr/>
          <p:nvPr/>
        </p:nvSpPr>
        <p:spPr>
          <a:xfrm>
            <a:off x="7315200" y="2926080"/>
            <a:ext cx="640080" cy="640080"/>
          </a:xfrm>
          <a:prstGeom prst="ellipse">
            <a:avLst/>
          </a:prstGeom>
          <a:solidFill>
            <a:schemeClr val="accent1"/>
          </a:solidFill>
          <a:ln w="12700">
            <a:solidFill>
              <a:schemeClr val="accent1"/>
            </a:solidFill>
            <a:prstDash val="solid"/>
          </a:ln>
        </p:spPr>
      </p:sp>
      <p:pic>
        <p:nvPicPr>
          <p:cNvPr id="10" name="idx-icon-1" descr="preencoded.png"/>
          <p:cNvPicPr>
            <a:picLocks noChangeAspect="1"/>
          </p:cNvPicPr>
          <p:nvPr/>
        </p:nvPicPr>
        <p:blipFill>
          <a:blip r:embed="rId4"/>
          <a:stretch>
            <a:fillRect/>
          </a:stretch>
        </p:blipFill>
        <p:spPr>
          <a:xfrm>
            <a:off x="7481621" y="3092501"/>
            <a:ext cx="307238" cy="307238"/>
          </a:xfrm>
          <a:prstGeom prst="rect">
            <a:avLst/>
          </a:prstGeom>
        </p:spPr>
      </p:pic>
      <p:sp>
        <p:nvSpPr>
          <p:cNvPr id="11" name="idx-head-1"/>
          <p:cNvSpPr txBox="1"/>
          <p:nvPr/>
        </p:nvSpPr>
        <p:spPr>
          <a:xfrm>
            <a:off x="8138160" y="2926080"/>
            <a:ext cx="3474720" cy="365760"/>
          </a:xfrm>
          <a:prstGeom prst="rect">
            <a:avLst/>
          </a:prstGeom>
          <a:noFill/>
          <a:ln/>
        </p:spPr>
        <p:txBody>
          <a:bodyPr wrap="square" lIns="0" tIns="0" rIns="0" bIns="0" rtlCol="0" anchor="t"/>
          <a:lstStyle/>
          <a:p>
            <a:pPr marL="0" indent="0">
              <a:buNone/>
            </a:pPr>
            <a:r>
              <a:rPr lang="en-US" sz="1700" b="1" dirty="0">
                <a:solidFill>
                  <a:schemeClr val="tx2"/>
                </a:solidFill>
              </a:rPr>
              <a:t>Change detection</a:t>
            </a:r>
            <a:endParaRPr lang="en-US" sz="1700" dirty="0"/>
          </a:p>
        </p:txBody>
      </p:sp>
      <p:sp>
        <p:nvSpPr>
          <p:cNvPr id="12" name="idx-text-1"/>
          <p:cNvSpPr txBox="1"/>
          <p:nvPr/>
        </p:nvSpPr>
        <p:spPr>
          <a:xfrm>
            <a:off x="8138160" y="3310128"/>
            <a:ext cx="3474720" cy="822960"/>
          </a:xfrm>
          <a:prstGeom prst="rect">
            <a:avLst/>
          </a:prstGeom>
          <a:noFill/>
          <a:ln/>
        </p:spPr>
        <p:txBody>
          <a:bodyPr wrap="square" lIns="0" tIns="0" rIns="0" bIns="0" rtlCol="0" anchor="t"/>
          <a:lstStyle/>
          <a:p>
            <a:pPr marL="0" indent="0">
              <a:buNone/>
            </a:pPr>
            <a:r>
              <a:rPr lang="en-US" sz="1400" dirty="0">
                <a:solidFill>
                  <a:schemeClr val="accent3"/>
                </a:solidFill>
              </a:rPr>
              <a:t>A fingerprint of files, URLs and settings triggers a rebuild only when needed</a:t>
            </a:r>
            <a:endParaRPr lang="en-US" sz="1400" dirty="0"/>
          </a:p>
        </p:txBody>
      </p:sp>
      <p:sp>
        <p:nvSpPr>
          <p:cNvPr id="13" name="idx-icon-2-circle"/>
          <p:cNvSpPr/>
          <p:nvPr/>
        </p:nvSpPr>
        <p:spPr>
          <a:xfrm>
            <a:off x="7315200" y="4434840"/>
            <a:ext cx="640080" cy="640080"/>
          </a:xfrm>
          <a:prstGeom prst="ellipse">
            <a:avLst/>
          </a:prstGeom>
          <a:solidFill>
            <a:schemeClr val="accent1"/>
          </a:solidFill>
          <a:ln w="12700">
            <a:solidFill>
              <a:schemeClr val="accent1"/>
            </a:solidFill>
            <a:prstDash val="solid"/>
          </a:ln>
        </p:spPr>
      </p:sp>
      <p:pic>
        <p:nvPicPr>
          <p:cNvPr id="14" name="idx-icon-2" descr="preencoded.png"/>
          <p:cNvPicPr>
            <a:picLocks noChangeAspect="1"/>
          </p:cNvPicPr>
          <p:nvPr/>
        </p:nvPicPr>
        <p:blipFill>
          <a:blip r:embed="rId5"/>
          <a:stretch>
            <a:fillRect/>
          </a:stretch>
        </p:blipFill>
        <p:spPr>
          <a:xfrm>
            <a:off x="7481621" y="4601261"/>
            <a:ext cx="307238" cy="307238"/>
          </a:xfrm>
          <a:prstGeom prst="rect">
            <a:avLst/>
          </a:prstGeom>
        </p:spPr>
      </p:pic>
      <p:sp>
        <p:nvSpPr>
          <p:cNvPr id="15" name="idx-head-2"/>
          <p:cNvSpPr txBox="1"/>
          <p:nvPr/>
        </p:nvSpPr>
        <p:spPr>
          <a:xfrm>
            <a:off x="8138160" y="4434840"/>
            <a:ext cx="3474720" cy="365760"/>
          </a:xfrm>
          <a:prstGeom prst="rect">
            <a:avLst/>
          </a:prstGeom>
          <a:noFill/>
          <a:ln/>
        </p:spPr>
        <p:txBody>
          <a:bodyPr wrap="square" lIns="0" tIns="0" rIns="0" bIns="0" rtlCol="0" anchor="t"/>
          <a:lstStyle/>
          <a:p>
            <a:pPr marL="0" indent="0">
              <a:buNone/>
            </a:pPr>
            <a:r>
              <a:rPr lang="en-US" sz="1700" b="1" dirty="0">
                <a:solidFill>
                  <a:schemeClr val="tx2"/>
                </a:solidFill>
              </a:rPr>
              <a:t>Metadata filters</a:t>
            </a:r>
            <a:endParaRPr lang="en-US" sz="1700" dirty="0"/>
          </a:p>
        </p:txBody>
      </p:sp>
      <p:sp>
        <p:nvSpPr>
          <p:cNvPr id="16" name="idx-text-2"/>
          <p:cNvSpPr txBox="1"/>
          <p:nvPr/>
        </p:nvSpPr>
        <p:spPr>
          <a:xfrm>
            <a:off x="8138160" y="4818888"/>
            <a:ext cx="3474720" cy="822960"/>
          </a:xfrm>
          <a:prstGeom prst="rect">
            <a:avLst/>
          </a:prstGeom>
          <a:noFill/>
          <a:ln/>
        </p:spPr>
        <p:txBody>
          <a:bodyPr wrap="square" lIns="0" tIns="0" rIns="0" bIns="0" rtlCol="0" anchor="t"/>
          <a:lstStyle/>
          <a:p>
            <a:pPr marL="0" indent="0">
              <a:buNone/>
            </a:pPr>
            <a:r>
              <a:rPr lang="en-US" sz="1400" dirty="0">
                <a:solidFill>
                  <a:schemeClr val="accent3"/>
                </a:solidFill>
              </a:rPr>
              <a:t>Search all documents or only the ones selected by the user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Steps 8–10: prompt template and the LCEL RAG chain</a:t>
            </a:r>
            <a:endParaRPr lang="en-US" sz="3400" dirty="0"/>
          </a:p>
        </p:txBody>
      </p:sp>
      <p:sp>
        <p:nvSpPr>
          <p:cNvPr id="3" name="code-810-bg"/>
          <p:cNvSpPr/>
          <p:nvPr/>
        </p:nvSpPr>
        <p:spPr>
          <a:xfrm>
            <a:off x="548640" y="1417320"/>
            <a:ext cx="5760720" cy="2121408"/>
          </a:xfrm>
          <a:prstGeom prst="roundRect">
            <a:avLst>
              <a:gd name="adj" fmla="val 3448"/>
            </a:avLst>
          </a:prstGeom>
          <a:solidFill>
            <a:schemeClr val="tx2"/>
          </a:solidFill>
          <a:ln w="12700">
            <a:solidFill>
              <a:schemeClr val="tx2"/>
            </a:solidFill>
            <a:prstDash val="solid"/>
          </a:ln>
        </p:spPr>
      </p:sp>
      <p:sp>
        <p:nvSpPr>
          <p:cNvPr id="4" name="code-810"/>
          <p:cNvSpPr txBox="1"/>
          <p:nvPr/>
        </p:nvSpPr>
        <p:spPr>
          <a:xfrm>
            <a:off x="777240" y="1600200"/>
            <a:ext cx="5303520" cy="175564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chain = (</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{"context": make_context_runnable(retriever),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"question": RunnablePassthrough()}</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 qa_prompt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 llm</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 StrOutputParser()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bridge-text"/>
          <p:cNvSpPr txBox="1"/>
          <p:nvPr/>
        </p:nvSpPr>
        <p:spPr>
          <a:xfrm>
            <a:off x="548640" y="3611880"/>
            <a:ext cx="5760720" cy="1097280"/>
          </a:xfrm>
          <a:prstGeom prst="rect">
            <a:avLst/>
          </a:prstGeom>
          <a:noFill/>
          <a:ln/>
        </p:spPr>
        <p:txBody>
          <a:bodyPr wrap="square" lIns="0" tIns="0" rIns="0" bIns="0" rtlCol="0" anchor="t"/>
          <a:lstStyle/>
          <a:p>
            <a:pPr marL="0" indent="0">
              <a:buNone/>
            </a:pPr>
            <a:r>
              <a:rPr lang="en-US" sz="1600" b="1" dirty="0">
                <a:solidFill>
                  <a:schemeClr val="tx2"/>
                </a:solidFill>
              </a:rPr>
              <a:t>make_context_runnable() </a:t>
            </a:r>
            <a:r>
              <a:rPr lang="en-US" sz="1600" dirty="0">
                <a:solidFill>
                  <a:schemeClr val="tx1"/>
                </a:solidFill>
              </a:rPr>
              <a:t>wraps the LlamaIndex retriever in a RunnableLambda and formats chunks as [Source 1: file.pdf, page 2].</a:t>
            </a:r>
            <a:endParaRPr lang="en-US" sz="1600" dirty="0"/>
          </a:p>
        </p:txBody>
      </p:sp>
      <p:sp>
        <p:nvSpPr>
          <p:cNvPr id="6" name="rules-card"/>
          <p:cNvSpPr/>
          <p:nvPr/>
        </p:nvSpPr>
        <p:spPr>
          <a:xfrm>
            <a:off x="6675120" y="1417320"/>
            <a:ext cx="4937760" cy="4480560"/>
          </a:xfrm>
          <a:prstGeom prst="roundRect">
            <a:avLst>
              <a:gd name="adj" fmla="val 2041"/>
            </a:avLst>
          </a:prstGeom>
          <a:solidFill>
            <a:schemeClr val="accent5"/>
          </a:solidFill>
          <a:ln w="12700">
            <a:solidFill>
              <a:schemeClr val="accent5"/>
            </a:solidFill>
            <a:prstDash val="solid"/>
          </a:ln>
        </p:spPr>
      </p:sp>
      <p:sp>
        <p:nvSpPr>
          <p:cNvPr id="7" name="rules-icon-circle"/>
          <p:cNvSpPr/>
          <p:nvPr/>
        </p:nvSpPr>
        <p:spPr>
          <a:xfrm>
            <a:off x="6949440" y="1645920"/>
            <a:ext cx="640080" cy="640080"/>
          </a:xfrm>
          <a:prstGeom prst="ellipse">
            <a:avLst/>
          </a:prstGeom>
          <a:solidFill>
            <a:schemeClr val="accent2"/>
          </a:solidFill>
          <a:ln w="12700">
            <a:solidFill>
              <a:schemeClr val="accent2"/>
            </a:solidFill>
            <a:prstDash val="solid"/>
          </a:ln>
        </p:spPr>
      </p:sp>
      <p:pic>
        <p:nvPicPr>
          <p:cNvPr id="8" name="rules-icon" descr="preencoded.png"/>
          <p:cNvPicPr>
            <a:picLocks noChangeAspect="1"/>
          </p:cNvPicPr>
          <p:nvPr/>
        </p:nvPicPr>
        <p:blipFill>
          <a:blip r:embed="rId3"/>
          <a:stretch>
            <a:fillRect/>
          </a:stretch>
        </p:blipFill>
        <p:spPr>
          <a:xfrm>
            <a:off x="7115861" y="1812341"/>
            <a:ext cx="307238" cy="307238"/>
          </a:xfrm>
          <a:prstGeom prst="rect">
            <a:avLst/>
          </a:prstGeom>
        </p:spPr>
      </p:pic>
      <p:sp>
        <p:nvSpPr>
          <p:cNvPr id="9" name="rules-head"/>
          <p:cNvSpPr txBox="1"/>
          <p:nvPr/>
        </p:nvSpPr>
        <p:spPr>
          <a:xfrm>
            <a:off x="7726680" y="1737360"/>
            <a:ext cx="3749040" cy="457200"/>
          </a:xfrm>
          <a:prstGeom prst="rect">
            <a:avLst/>
          </a:prstGeom>
          <a:noFill/>
          <a:ln/>
        </p:spPr>
        <p:txBody>
          <a:bodyPr wrap="square" lIns="0" tIns="0" rIns="0" bIns="0" rtlCol="0" anchor="t"/>
          <a:lstStyle/>
          <a:p>
            <a:pPr marL="0" indent="0">
              <a:buNone/>
            </a:pPr>
            <a:r>
              <a:rPr lang="en-US" sz="1700" b="1" dirty="0">
                <a:solidFill>
                  <a:schemeClr val="tx2"/>
                </a:solidFill>
              </a:rPr>
              <a:t>Prompt rules (anti-hallucination)</a:t>
            </a:r>
            <a:endParaRPr lang="en-US" sz="1700" dirty="0"/>
          </a:p>
        </p:txBody>
      </p:sp>
      <p:sp>
        <p:nvSpPr>
          <p:cNvPr id="10" name="rules-list"/>
          <p:cNvSpPr txBox="1"/>
          <p:nvPr/>
        </p:nvSpPr>
        <p:spPr>
          <a:xfrm>
            <a:off x="6995160" y="2514600"/>
            <a:ext cx="438912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Use ONLY the retrieved context</a:t>
            </a:r>
            <a:endParaRPr lang="en-US" sz="1500" dirty="0"/>
          </a:p>
          <a:p>
            <a:pPr marL="342900" indent="-342900">
              <a:spcAft>
                <a:spcPts val="800"/>
              </a:spcAft>
              <a:buSzPct val="100000"/>
              <a:buChar char="•"/>
            </a:pPr>
            <a:r>
              <a:rPr lang="en-US" sz="1500" dirty="0">
                <a:solidFill>
                  <a:schemeClr val="tx1"/>
                </a:solidFill>
              </a:rPr>
              <a:t>Never fabricate information</a:t>
            </a:r>
            <a:endParaRPr lang="en-US" sz="1500" dirty="0"/>
          </a:p>
          <a:p>
            <a:pPr marL="342900" indent="-342900">
              <a:spcAft>
                <a:spcPts val="800"/>
              </a:spcAft>
              <a:buSzPct val="100000"/>
              <a:buChar char="•"/>
            </a:pPr>
            <a:r>
              <a:rPr lang="en-US" sz="1500" dirty="0">
                <a:solidFill>
                  <a:schemeClr val="tx1"/>
                </a:solidFill>
              </a:rPr>
              <a:t>If missing, say: “I could not find this information in the provided documents.”</a:t>
            </a:r>
            <a:endParaRPr lang="en-US" sz="1500" dirty="0"/>
          </a:p>
          <a:p>
            <a:pPr marL="342900" indent="-342900">
              <a:spcAft>
                <a:spcPts val="800"/>
              </a:spcAft>
              <a:buSzPct val="100000"/>
              <a:buChar char="•"/>
            </a:pPr>
            <a:r>
              <a:rPr lang="en-US" sz="1500" dirty="0">
                <a:solidFill>
                  <a:schemeClr val="tx1"/>
                </a:solidFill>
              </a:rPr>
              <a:t>Cite sources as [Source 1], [Source 2]</a:t>
            </a:r>
            <a:endParaRPr lang="en-US" sz="1500" dirty="0"/>
          </a:p>
          <a:p>
            <a:pPr marL="342900" indent="-342900">
              <a:spcAft>
                <a:spcPts val="800"/>
              </a:spcAft>
              <a:buSzPct val="100000"/>
              <a:buChar char="•"/>
            </a:pPr>
            <a:r>
              <a:rPr lang="en-US" sz="1500" dirty="0">
                <a:solidFill>
                  <a:schemeClr val="tx1"/>
                </a:solidFill>
              </a:rPr>
              <a:t>Clear structure with bullet points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Step 11: structured answers with PydanticOutputParser</a:t>
            </a:r>
            <a:endParaRPr lang="en-US" sz="3400" dirty="0"/>
          </a:p>
        </p:txBody>
      </p:sp>
      <p:sp>
        <p:nvSpPr>
          <p:cNvPr id="3" name="code-11-bg"/>
          <p:cNvSpPr/>
          <p:nvPr/>
        </p:nvSpPr>
        <p:spPr>
          <a:xfrm>
            <a:off x="548640" y="1417320"/>
            <a:ext cx="6035040" cy="2596896"/>
          </a:xfrm>
          <a:prstGeom prst="roundRect">
            <a:avLst>
              <a:gd name="adj" fmla="val 2817"/>
            </a:avLst>
          </a:prstGeom>
          <a:solidFill>
            <a:schemeClr val="tx2"/>
          </a:solidFill>
          <a:ln w="12700">
            <a:solidFill>
              <a:schemeClr val="tx2"/>
            </a:solidFill>
            <a:prstDash val="solid"/>
          </a:ln>
        </p:spPr>
      </p:sp>
      <p:sp>
        <p:nvSpPr>
          <p:cNvPr id="4" name="code-11"/>
          <p:cNvSpPr txBox="1"/>
          <p:nvPr/>
        </p:nvSpPr>
        <p:spPr>
          <a:xfrm>
            <a:off x="777240" y="1600200"/>
            <a:ext cx="5577840" cy="223113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class RAGAnswer(BaseModel):</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answer: str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sources: List[str]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confidence: Literal["high", "medium", "low"]</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follow_up_questions: List[str]</a:t>
            </a:r>
            <a:endParaRPr lang="en-US" sz="1400" dirty="0"/>
          </a:p>
          <a:p>
            <a:pPr marL="0" indent="0">
              <a:buNone/>
            </a:pP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parser = PydanticOutputParser(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pydantic_object=RAGAnswer)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chain = structured_prompt | llm | parser</a:t>
            </a:r>
            <a:endParaRPr lang="en-US" sz="1400" dirty="0"/>
          </a:p>
        </p:txBody>
      </p:sp>
      <p:sp>
        <p:nvSpPr>
          <p:cNvPr id="5" name="field-card-0"/>
          <p:cNvSpPr/>
          <p:nvPr/>
        </p:nvSpPr>
        <p:spPr>
          <a:xfrm>
            <a:off x="6949440" y="1417320"/>
            <a:ext cx="4663440" cy="731520"/>
          </a:xfrm>
          <a:prstGeom prst="roundRect">
            <a:avLst>
              <a:gd name="adj" fmla="val 12500"/>
            </a:avLst>
          </a:prstGeom>
          <a:solidFill>
            <a:schemeClr val="accent4"/>
          </a:solidFill>
          <a:ln w="12700">
            <a:solidFill>
              <a:schemeClr val="accent4"/>
            </a:solidFill>
            <a:prstDash val="solid"/>
          </a:ln>
        </p:spPr>
      </p:sp>
      <p:sp>
        <p:nvSpPr>
          <p:cNvPr id="6" name="field-name-0"/>
          <p:cNvSpPr txBox="1"/>
          <p:nvPr/>
        </p:nvSpPr>
        <p:spPr>
          <a:xfrm>
            <a:off x="7132320" y="1417320"/>
            <a:ext cx="2103120" cy="7315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answer</a:t>
            </a:r>
            <a:endParaRPr lang="en-US" sz="1400" dirty="0"/>
          </a:p>
        </p:txBody>
      </p:sp>
      <p:sp>
        <p:nvSpPr>
          <p:cNvPr id="7" name="field-desc-0"/>
          <p:cNvSpPr txBox="1"/>
          <p:nvPr/>
        </p:nvSpPr>
        <p:spPr>
          <a:xfrm>
            <a:off x="9235440" y="1417320"/>
            <a:ext cx="2286000" cy="731520"/>
          </a:xfrm>
          <a:prstGeom prst="rect">
            <a:avLst/>
          </a:prstGeom>
          <a:noFill/>
          <a:ln/>
        </p:spPr>
        <p:txBody>
          <a:bodyPr wrap="square" lIns="0" tIns="0" rIns="0" bIns="0" rtlCol="0" anchor="ctr"/>
          <a:lstStyle/>
          <a:p>
            <a:pPr marL="0" indent="0">
              <a:buNone/>
            </a:pPr>
            <a:r>
              <a:rPr lang="en-US" sz="1400" dirty="0">
                <a:solidFill>
                  <a:schemeClr val="tx1"/>
                </a:solidFill>
              </a:rPr>
              <a:t>Grounded answer text</a:t>
            </a:r>
            <a:endParaRPr lang="en-US" sz="1400" dirty="0"/>
          </a:p>
        </p:txBody>
      </p:sp>
      <p:sp>
        <p:nvSpPr>
          <p:cNvPr id="8" name="field-card-1"/>
          <p:cNvSpPr/>
          <p:nvPr/>
        </p:nvSpPr>
        <p:spPr>
          <a:xfrm>
            <a:off x="6949440" y="2331720"/>
            <a:ext cx="4663440" cy="731520"/>
          </a:xfrm>
          <a:prstGeom prst="roundRect">
            <a:avLst>
              <a:gd name="adj" fmla="val 12500"/>
            </a:avLst>
          </a:prstGeom>
          <a:solidFill>
            <a:schemeClr val="bg2"/>
          </a:solidFill>
          <a:ln w="12700">
            <a:solidFill>
              <a:schemeClr val="bg2"/>
            </a:solidFill>
            <a:prstDash val="solid"/>
          </a:ln>
        </p:spPr>
      </p:sp>
      <p:sp>
        <p:nvSpPr>
          <p:cNvPr id="9" name="field-name-1"/>
          <p:cNvSpPr txBox="1"/>
          <p:nvPr/>
        </p:nvSpPr>
        <p:spPr>
          <a:xfrm>
            <a:off x="7132320" y="2331720"/>
            <a:ext cx="2103120" cy="7315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sources</a:t>
            </a:r>
            <a:endParaRPr lang="en-US" sz="1400" dirty="0"/>
          </a:p>
        </p:txBody>
      </p:sp>
      <p:sp>
        <p:nvSpPr>
          <p:cNvPr id="10" name="field-desc-1"/>
          <p:cNvSpPr txBox="1"/>
          <p:nvPr/>
        </p:nvSpPr>
        <p:spPr>
          <a:xfrm>
            <a:off x="9235440" y="2331720"/>
            <a:ext cx="2286000" cy="731520"/>
          </a:xfrm>
          <a:prstGeom prst="rect">
            <a:avLst/>
          </a:prstGeom>
          <a:noFill/>
          <a:ln/>
        </p:spPr>
        <p:txBody>
          <a:bodyPr wrap="square" lIns="0" tIns="0" rIns="0" bIns="0" rtlCol="0" anchor="ctr"/>
          <a:lstStyle/>
          <a:p>
            <a:pPr marL="0" indent="0">
              <a:buNone/>
            </a:pPr>
            <a:r>
              <a:rPr lang="en-US" sz="1400" dirty="0">
                <a:solidFill>
                  <a:schemeClr val="tx1"/>
                </a:solidFill>
              </a:rPr>
              <a:t>Documents and pages used</a:t>
            </a:r>
            <a:endParaRPr lang="en-US" sz="1400" dirty="0"/>
          </a:p>
        </p:txBody>
      </p:sp>
      <p:sp>
        <p:nvSpPr>
          <p:cNvPr id="11" name="field-card-2"/>
          <p:cNvSpPr/>
          <p:nvPr/>
        </p:nvSpPr>
        <p:spPr>
          <a:xfrm>
            <a:off x="6949440" y="3246120"/>
            <a:ext cx="4663440" cy="731520"/>
          </a:xfrm>
          <a:prstGeom prst="roundRect">
            <a:avLst>
              <a:gd name="adj" fmla="val 12500"/>
            </a:avLst>
          </a:prstGeom>
          <a:solidFill>
            <a:schemeClr val="accent4"/>
          </a:solidFill>
          <a:ln w="12700">
            <a:solidFill>
              <a:schemeClr val="accent4"/>
            </a:solidFill>
            <a:prstDash val="solid"/>
          </a:ln>
        </p:spPr>
      </p:sp>
      <p:sp>
        <p:nvSpPr>
          <p:cNvPr id="12" name="field-name-2"/>
          <p:cNvSpPr txBox="1"/>
          <p:nvPr/>
        </p:nvSpPr>
        <p:spPr>
          <a:xfrm>
            <a:off x="7132320" y="3246120"/>
            <a:ext cx="2103120" cy="7315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confidence</a:t>
            </a:r>
            <a:endParaRPr lang="en-US" sz="1400" dirty="0"/>
          </a:p>
        </p:txBody>
      </p:sp>
      <p:sp>
        <p:nvSpPr>
          <p:cNvPr id="13" name="field-desc-2"/>
          <p:cNvSpPr txBox="1"/>
          <p:nvPr/>
        </p:nvSpPr>
        <p:spPr>
          <a:xfrm>
            <a:off x="9235440" y="3246120"/>
            <a:ext cx="2286000" cy="731520"/>
          </a:xfrm>
          <a:prstGeom prst="rect">
            <a:avLst/>
          </a:prstGeom>
          <a:noFill/>
          <a:ln/>
        </p:spPr>
        <p:txBody>
          <a:bodyPr wrap="square" lIns="0" tIns="0" rIns="0" bIns="0" rtlCol="0" anchor="ctr"/>
          <a:lstStyle/>
          <a:p>
            <a:pPr marL="0" indent="0">
              <a:buNone/>
            </a:pPr>
            <a:r>
              <a:rPr lang="en-US" sz="1400" dirty="0">
                <a:solidFill>
                  <a:schemeClr val="tx1"/>
                </a:solidFill>
              </a:rPr>
              <a:t>high / medium / low</a:t>
            </a:r>
            <a:endParaRPr lang="en-US" sz="1400" dirty="0"/>
          </a:p>
        </p:txBody>
      </p:sp>
      <p:sp>
        <p:nvSpPr>
          <p:cNvPr id="14" name="field-card-3"/>
          <p:cNvSpPr/>
          <p:nvPr/>
        </p:nvSpPr>
        <p:spPr>
          <a:xfrm>
            <a:off x="6949440" y="4160520"/>
            <a:ext cx="4663440" cy="731520"/>
          </a:xfrm>
          <a:prstGeom prst="roundRect">
            <a:avLst>
              <a:gd name="adj" fmla="val 12500"/>
            </a:avLst>
          </a:prstGeom>
          <a:solidFill>
            <a:schemeClr val="bg2"/>
          </a:solidFill>
          <a:ln w="12700">
            <a:solidFill>
              <a:schemeClr val="bg2"/>
            </a:solidFill>
            <a:prstDash val="solid"/>
          </a:ln>
        </p:spPr>
      </p:sp>
      <p:sp>
        <p:nvSpPr>
          <p:cNvPr id="15" name="field-name-3"/>
          <p:cNvSpPr txBox="1"/>
          <p:nvPr/>
        </p:nvSpPr>
        <p:spPr>
          <a:xfrm>
            <a:off x="7132320" y="4160520"/>
            <a:ext cx="2103120" cy="7315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follow_up_questions</a:t>
            </a:r>
            <a:endParaRPr lang="en-US" sz="1400" dirty="0"/>
          </a:p>
        </p:txBody>
      </p:sp>
      <p:sp>
        <p:nvSpPr>
          <p:cNvPr id="16" name="field-desc-3"/>
          <p:cNvSpPr txBox="1"/>
          <p:nvPr/>
        </p:nvSpPr>
        <p:spPr>
          <a:xfrm>
            <a:off x="9235440" y="4160520"/>
            <a:ext cx="2286000" cy="731520"/>
          </a:xfrm>
          <a:prstGeom prst="rect">
            <a:avLst/>
          </a:prstGeom>
          <a:noFill/>
          <a:ln/>
        </p:spPr>
        <p:txBody>
          <a:bodyPr wrap="square" lIns="0" tIns="0" rIns="0" bIns="0" rtlCol="0" anchor="ctr"/>
          <a:lstStyle/>
          <a:p>
            <a:pPr marL="0" indent="0">
              <a:buNone/>
            </a:pPr>
            <a:r>
              <a:rPr lang="en-US" sz="1400" dirty="0">
                <a:solidFill>
                  <a:schemeClr val="tx1"/>
                </a:solidFill>
              </a:rPr>
              <a:t>Two suggested next questions</a:t>
            </a:r>
            <a:endParaRPr lang="en-US" sz="1400" dirty="0"/>
          </a:p>
        </p:txBody>
      </p:sp>
      <p:sp>
        <p:nvSpPr>
          <p:cNvPr id="17" name="fallback-text"/>
          <p:cNvSpPr txBox="1"/>
          <p:nvPr/>
        </p:nvSpPr>
        <p:spPr>
          <a:xfrm>
            <a:off x="548640" y="5303520"/>
            <a:ext cx="11064240" cy="548640"/>
          </a:xfrm>
          <a:prstGeom prst="rect">
            <a:avLst/>
          </a:prstGeom>
          <a:noFill/>
          <a:ln/>
        </p:spPr>
        <p:txBody>
          <a:bodyPr wrap="square" lIns="0" tIns="0" rIns="0" bIns="0" rtlCol="0" anchor="t"/>
          <a:lstStyle/>
          <a:p>
            <a:pPr marL="0" indent="0">
              <a:buNone/>
            </a:pPr>
            <a:r>
              <a:rPr lang="en-US" sz="1500" i="1" dirty="0">
                <a:solidFill>
                  <a:schemeClr val="accent3"/>
                </a:solidFill>
              </a:rPr>
              <a:t>If the LLM output cannot be parsed, the code falls back to a plain-text answer, so the user always gets a response.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Steps 12–14: multi-document, summary and conversation</a:t>
            </a:r>
            <a:endParaRPr lang="en-US" sz="3400" dirty="0"/>
          </a:p>
        </p:txBody>
      </p:sp>
      <p:sp>
        <p:nvSpPr>
          <p:cNvPr id="3" name="feat-card-0"/>
          <p:cNvSpPr/>
          <p:nvPr/>
        </p:nvSpPr>
        <p:spPr>
          <a:xfrm>
            <a:off x="548640" y="1417320"/>
            <a:ext cx="3520440" cy="4480560"/>
          </a:xfrm>
          <a:prstGeom prst="roundRect">
            <a:avLst>
              <a:gd name="adj" fmla="val 2597"/>
            </a:avLst>
          </a:prstGeom>
          <a:solidFill>
            <a:schemeClr val="bg2"/>
          </a:solidFill>
          <a:ln w="12700">
            <a:solidFill>
              <a:schemeClr val="bg2"/>
            </a:solidFill>
            <a:prstDash val="solid"/>
          </a:ln>
        </p:spPr>
      </p:sp>
      <p:sp>
        <p:nvSpPr>
          <p:cNvPr id="4" name="feat-icon-0-circle"/>
          <p:cNvSpPr/>
          <p:nvPr/>
        </p:nvSpPr>
        <p:spPr>
          <a:xfrm>
            <a:off x="822960" y="1691640"/>
            <a:ext cx="731520" cy="731520"/>
          </a:xfrm>
          <a:prstGeom prst="ellipse">
            <a:avLst/>
          </a:prstGeom>
          <a:solidFill>
            <a:schemeClr val="accent1"/>
          </a:solidFill>
          <a:ln w="12700">
            <a:solidFill>
              <a:schemeClr val="accent1"/>
            </a:solidFill>
            <a:prstDash val="solid"/>
          </a:ln>
        </p:spPr>
      </p:sp>
      <p:pic>
        <p:nvPicPr>
          <p:cNvPr id="5" name="feat-icon-0" descr="preencoded.png"/>
          <p:cNvPicPr>
            <a:picLocks noChangeAspect="1"/>
          </p:cNvPicPr>
          <p:nvPr/>
        </p:nvPicPr>
        <p:blipFill>
          <a:blip r:embed="rId3"/>
          <a:stretch>
            <a:fillRect/>
          </a:stretch>
        </p:blipFill>
        <p:spPr>
          <a:xfrm>
            <a:off x="1013155" y="1881835"/>
            <a:ext cx="351130" cy="351130"/>
          </a:xfrm>
          <a:prstGeom prst="rect">
            <a:avLst/>
          </a:prstGeom>
        </p:spPr>
      </p:pic>
      <p:sp>
        <p:nvSpPr>
          <p:cNvPr id="6" name="feat-head-0"/>
          <p:cNvSpPr txBox="1"/>
          <p:nvPr/>
        </p:nvSpPr>
        <p:spPr>
          <a:xfrm>
            <a:off x="822960" y="2606040"/>
            <a:ext cx="3017520" cy="457200"/>
          </a:xfrm>
          <a:prstGeom prst="rect">
            <a:avLst/>
          </a:prstGeom>
          <a:noFill/>
          <a:ln/>
        </p:spPr>
        <p:txBody>
          <a:bodyPr wrap="square" lIns="0" tIns="0" rIns="0" bIns="0" rtlCol="0" anchor="t"/>
          <a:lstStyle/>
          <a:p>
            <a:pPr marL="0" indent="0">
              <a:buNone/>
            </a:pPr>
            <a:r>
              <a:rPr lang="en-US" sz="1900" b="1" dirty="0">
                <a:solidFill>
                  <a:schemeClr val="tx2"/>
                </a:solidFill>
              </a:rPr>
              <a:t>Compare documents</a:t>
            </a:r>
            <a:endParaRPr lang="en-US" sz="1900" dirty="0"/>
          </a:p>
        </p:txBody>
      </p:sp>
      <p:sp>
        <p:nvSpPr>
          <p:cNvPr id="7" name="feat-list-0"/>
          <p:cNvSpPr txBox="1"/>
          <p:nvPr/>
        </p:nvSpPr>
        <p:spPr>
          <a:xfrm>
            <a:off x="822960" y="3200400"/>
            <a:ext cx="306324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Retrieve top chunks separately from each document</a:t>
            </a:r>
            <a:endParaRPr lang="en-US" sz="1500" dirty="0"/>
          </a:p>
          <a:p>
            <a:pPr marL="342900" indent="-342900">
              <a:spcAft>
                <a:spcPts val="800"/>
              </a:spcAft>
              <a:buSzPct val="100000"/>
              <a:buChar char="•"/>
            </a:pPr>
            <a:r>
              <a:rPr lang="en-US" sz="1500" dirty="0">
                <a:solidFill>
                  <a:schemeClr val="tx1"/>
                </a:solidFill>
              </a:rPr>
              <a:t>Context labelled per document</a:t>
            </a:r>
            <a:endParaRPr lang="en-US" sz="1500" dirty="0"/>
          </a:p>
          <a:p>
            <a:pPr marL="342900" indent="-342900">
              <a:spcAft>
                <a:spcPts val="800"/>
              </a:spcAft>
              <a:buSzPct val="100000"/>
              <a:buChar char="•"/>
            </a:pPr>
            <a:r>
              <a:rPr lang="en-US" sz="1500" dirty="0">
                <a:solidFill>
                  <a:schemeClr val="tx1"/>
                </a:solidFill>
              </a:rPr>
              <a:t>LLM answers per document, then compares (table)</a:t>
            </a:r>
            <a:endParaRPr lang="en-US" sz="1500" dirty="0"/>
          </a:p>
        </p:txBody>
      </p:sp>
      <p:sp>
        <p:nvSpPr>
          <p:cNvPr id="8" name="feat-card-1"/>
          <p:cNvSpPr/>
          <p:nvPr/>
        </p:nvSpPr>
        <p:spPr>
          <a:xfrm>
            <a:off x="4297680" y="1417320"/>
            <a:ext cx="3520440" cy="4480560"/>
          </a:xfrm>
          <a:prstGeom prst="roundRect">
            <a:avLst>
              <a:gd name="adj" fmla="val 2597"/>
            </a:avLst>
          </a:prstGeom>
          <a:solidFill>
            <a:schemeClr val="bg2"/>
          </a:solidFill>
          <a:ln w="12700">
            <a:solidFill>
              <a:schemeClr val="bg2"/>
            </a:solidFill>
            <a:prstDash val="solid"/>
          </a:ln>
        </p:spPr>
      </p:sp>
      <p:sp>
        <p:nvSpPr>
          <p:cNvPr id="9" name="feat-icon-1-circle"/>
          <p:cNvSpPr/>
          <p:nvPr/>
        </p:nvSpPr>
        <p:spPr>
          <a:xfrm>
            <a:off x="4572000" y="1691640"/>
            <a:ext cx="731520" cy="731520"/>
          </a:xfrm>
          <a:prstGeom prst="ellipse">
            <a:avLst/>
          </a:prstGeom>
          <a:solidFill>
            <a:schemeClr val="accent2"/>
          </a:solidFill>
          <a:ln w="12700">
            <a:solidFill>
              <a:schemeClr val="accent2"/>
            </a:solidFill>
            <a:prstDash val="solid"/>
          </a:ln>
        </p:spPr>
      </p:sp>
      <p:pic>
        <p:nvPicPr>
          <p:cNvPr id="10" name="feat-icon-1" descr="preencoded.png"/>
          <p:cNvPicPr>
            <a:picLocks noChangeAspect="1"/>
          </p:cNvPicPr>
          <p:nvPr/>
        </p:nvPicPr>
        <p:blipFill>
          <a:blip r:embed="rId4"/>
          <a:stretch>
            <a:fillRect/>
          </a:stretch>
        </p:blipFill>
        <p:spPr>
          <a:xfrm>
            <a:off x="4762195" y="1881835"/>
            <a:ext cx="351130" cy="351130"/>
          </a:xfrm>
          <a:prstGeom prst="rect">
            <a:avLst/>
          </a:prstGeom>
        </p:spPr>
      </p:pic>
      <p:sp>
        <p:nvSpPr>
          <p:cNvPr id="11" name="feat-head-1"/>
          <p:cNvSpPr txBox="1"/>
          <p:nvPr/>
        </p:nvSpPr>
        <p:spPr>
          <a:xfrm>
            <a:off x="4572000" y="2606040"/>
            <a:ext cx="3017520" cy="457200"/>
          </a:xfrm>
          <a:prstGeom prst="rect">
            <a:avLst/>
          </a:prstGeom>
          <a:noFill/>
          <a:ln/>
        </p:spPr>
        <p:txBody>
          <a:bodyPr wrap="square" lIns="0" tIns="0" rIns="0" bIns="0" rtlCol="0" anchor="t"/>
          <a:lstStyle/>
          <a:p>
            <a:pPr marL="0" indent="0">
              <a:buNone/>
            </a:pPr>
            <a:r>
              <a:rPr lang="en-US" sz="1900" b="1" dirty="0">
                <a:solidFill>
                  <a:schemeClr val="tx2"/>
                </a:solidFill>
              </a:rPr>
              <a:t>Map-reduce summary</a:t>
            </a:r>
            <a:endParaRPr lang="en-US" sz="1900" dirty="0"/>
          </a:p>
        </p:txBody>
      </p:sp>
      <p:sp>
        <p:nvSpPr>
          <p:cNvPr id="12" name="feat-list-1"/>
          <p:cNvSpPr txBox="1"/>
          <p:nvPr/>
        </p:nvSpPr>
        <p:spPr>
          <a:xfrm>
            <a:off x="4572000" y="3200400"/>
            <a:ext cx="306324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All chunks of a document from the docstore</a:t>
            </a:r>
            <a:endParaRPr lang="en-US" sz="1500" dirty="0"/>
          </a:p>
          <a:p>
            <a:pPr marL="342900" indent="-342900">
              <a:spcAft>
                <a:spcPts val="800"/>
              </a:spcAft>
              <a:buSzPct val="100000"/>
              <a:buChar char="•"/>
            </a:pPr>
            <a:r>
              <a:rPr lang="en-US" sz="1500" dirty="0">
                <a:solidFill>
                  <a:schemeClr val="tx1"/>
                </a:solidFill>
              </a:rPr>
              <a:t>MAP: summarize small groups one by one</a:t>
            </a:r>
            <a:endParaRPr lang="en-US" sz="1500" dirty="0"/>
          </a:p>
          <a:p>
            <a:pPr marL="342900" indent="-342900">
              <a:spcAft>
                <a:spcPts val="800"/>
              </a:spcAft>
              <a:buSzPct val="100000"/>
              <a:buChar char="•"/>
            </a:pPr>
            <a:r>
              <a:rPr lang="en-US" sz="1500" dirty="0">
                <a:solidFill>
                  <a:schemeClr val="tx1"/>
                </a:solidFill>
              </a:rPr>
              <a:t>REDUCE: combine into one final summary</a:t>
            </a:r>
            <a:endParaRPr lang="en-US" sz="1500" dirty="0"/>
          </a:p>
        </p:txBody>
      </p:sp>
      <p:sp>
        <p:nvSpPr>
          <p:cNvPr id="13" name="feat-card-2"/>
          <p:cNvSpPr/>
          <p:nvPr/>
        </p:nvSpPr>
        <p:spPr>
          <a:xfrm>
            <a:off x="8046720" y="1417320"/>
            <a:ext cx="3520440" cy="4480560"/>
          </a:xfrm>
          <a:prstGeom prst="roundRect">
            <a:avLst>
              <a:gd name="adj" fmla="val 2597"/>
            </a:avLst>
          </a:prstGeom>
          <a:solidFill>
            <a:schemeClr val="bg2"/>
          </a:solidFill>
          <a:ln w="12700">
            <a:solidFill>
              <a:schemeClr val="bg2"/>
            </a:solidFill>
            <a:prstDash val="solid"/>
          </a:ln>
        </p:spPr>
      </p:sp>
      <p:sp>
        <p:nvSpPr>
          <p:cNvPr id="14" name="feat-icon-2-circle"/>
          <p:cNvSpPr/>
          <p:nvPr/>
        </p:nvSpPr>
        <p:spPr>
          <a:xfrm>
            <a:off x="8321040" y="1691640"/>
            <a:ext cx="731520" cy="731520"/>
          </a:xfrm>
          <a:prstGeom prst="ellipse">
            <a:avLst/>
          </a:prstGeom>
          <a:solidFill>
            <a:schemeClr val="accent1"/>
          </a:solidFill>
          <a:ln w="12700">
            <a:solidFill>
              <a:schemeClr val="accent1"/>
            </a:solidFill>
            <a:prstDash val="solid"/>
          </a:ln>
        </p:spPr>
      </p:sp>
      <p:pic>
        <p:nvPicPr>
          <p:cNvPr id="15" name="feat-icon-2" descr="preencoded.png"/>
          <p:cNvPicPr>
            <a:picLocks noChangeAspect="1"/>
          </p:cNvPicPr>
          <p:nvPr/>
        </p:nvPicPr>
        <p:blipFill>
          <a:blip r:embed="rId5"/>
          <a:stretch>
            <a:fillRect/>
          </a:stretch>
        </p:blipFill>
        <p:spPr>
          <a:xfrm>
            <a:off x="8511235" y="1881835"/>
            <a:ext cx="351130" cy="351130"/>
          </a:xfrm>
          <a:prstGeom prst="rect">
            <a:avLst/>
          </a:prstGeom>
        </p:spPr>
      </p:pic>
      <p:sp>
        <p:nvSpPr>
          <p:cNvPr id="16" name="feat-head-2"/>
          <p:cNvSpPr txBox="1"/>
          <p:nvPr/>
        </p:nvSpPr>
        <p:spPr>
          <a:xfrm>
            <a:off x="8321040" y="2606040"/>
            <a:ext cx="3017520" cy="457200"/>
          </a:xfrm>
          <a:prstGeom prst="rect">
            <a:avLst/>
          </a:prstGeom>
          <a:noFill/>
          <a:ln/>
        </p:spPr>
        <p:txBody>
          <a:bodyPr wrap="square" lIns="0" tIns="0" rIns="0" bIns="0" rtlCol="0" anchor="t"/>
          <a:lstStyle/>
          <a:p>
            <a:pPr marL="0" indent="0">
              <a:buNone/>
            </a:pPr>
            <a:r>
              <a:rPr lang="en-US" sz="1900" b="1" dirty="0">
                <a:solidFill>
                  <a:schemeClr val="tx2"/>
                </a:solidFill>
              </a:rPr>
              <a:t>Follow-up questions</a:t>
            </a:r>
            <a:endParaRPr lang="en-US" sz="1900" dirty="0"/>
          </a:p>
        </p:txBody>
      </p:sp>
      <p:sp>
        <p:nvSpPr>
          <p:cNvPr id="17" name="feat-list-2"/>
          <p:cNvSpPr txBox="1"/>
          <p:nvPr/>
        </p:nvSpPr>
        <p:spPr>
          <a:xfrm>
            <a:off x="8321040" y="3200400"/>
            <a:ext cx="306324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Chat history kept as Human/AI messages</a:t>
            </a:r>
            <a:endParaRPr lang="en-US" sz="1500" dirty="0"/>
          </a:p>
          <a:p>
            <a:pPr marL="342900" indent="-342900">
              <a:spcAft>
                <a:spcPts val="800"/>
              </a:spcAft>
              <a:buSzPct val="100000"/>
              <a:buChar char="•"/>
            </a:pPr>
            <a:r>
              <a:rPr lang="en-US" sz="1500" dirty="0">
                <a:solidFill>
                  <a:schemeClr val="tx1"/>
                </a:solidFill>
              </a:rPr>
              <a:t>Condense prompt rewrites the follow-up</a:t>
            </a:r>
            <a:endParaRPr lang="en-US" sz="1500" dirty="0"/>
          </a:p>
          <a:p>
            <a:pPr marL="342900" indent="-342900">
              <a:spcAft>
                <a:spcPts val="800"/>
              </a:spcAft>
              <a:buSzPct val="100000"/>
              <a:buChar char="•"/>
            </a:pPr>
            <a:r>
              <a:rPr lang="en-US" sz="1500" dirty="0">
                <a:solidFill>
                  <a:schemeClr val="tx1"/>
                </a:solidFill>
              </a:rPr>
              <a:t>Standalone question → retrieval → answer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Deployable application: Streamlit web app on the cloud</a:t>
            </a:r>
            <a:endParaRPr lang="en-US" sz="3400" dirty="0"/>
          </a:p>
        </p:txBody>
      </p:sp>
      <p:sp>
        <p:nvSpPr>
          <p:cNvPr id="3" name="ui-frame"/>
          <p:cNvSpPr/>
          <p:nvPr/>
        </p:nvSpPr>
        <p:spPr>
          <a:xfrm>
            <a:off x="548640" y="1417320"/>
            <a:ext cx="6949440" cy="4480560"/>
          </a:xfrm>
          <a:prstGeom prst="roundRect">
            <a:avLst>
              <a:gd name="adj" fmla="val 2041"/>
            </a:avLst>
          </a:prstGeom>
          <a:solidFill>
            <a:schemeClr val="bg2"/>
          </a:solidFill>
          <a:ln w="12700">
            <a:solidFill>
              <a:schemeClr val="bg2"/>
            </a:solidFill>
            <a:prstDash val="solid"/>
          </a:ln>
        </p:spPr>
      </p:sp>
      <p:sp>
        <p:nvSpPr>
          <p:cNvPr id="4" name="ui-sidebar"/>
          <p:cNvSpPr/>
          <p:nvPr/>
        </p:nvSpPr>
        <p:spPr>
          <a:xfrm>
            <a:off x="548640" y="1417320"/>
            <a:ext cx="2011680" cy="4480560"/>
          </a:xfrm>
          <a:prstGeom prst="rect">
            <a:avLst/>
          </a:prstGeom>
          <a:solidFill>
            <a:schemeClr val="accent4"/>
          </a:solidFill>
          <a:ln w="12700">
            <a:solidFill>
              <a:schemeClr val="accent4"/>
            </a:solidFill>
            <a:prstDash val="solid"/>
          </a:ln>
        </p:spPr>
      </p:sp>
      <p:sp>
        <p:nvSpPr>
          <p:cNvPr id="5" name="ui-sidebar-text"/>
          <p:cNvSpPr txBox="1"/>
          <p:nvPr/>
        </p:nvSpPr>
        <p:spPr>
          <a:xfrm>
            <a:off x="731520" y="1645920"/>
            <a:ext cx="1737360" cy="2743200"/>
          </a:xfrm>
          <a:prstGeom prst="rect">
            <a:avLst/>
          </a:prstGeom>
          <a:noFill/>
          <a:ln/>
        </p:spPr>
        <p:txBody>
          <a:bodyPr wrap="square" lIns="0" tIns="0" rIns="0" bIns="0" rtlCol="0" anchor="t"/>
          <a:lstStyle/>
          <a:p>
            <a:pPr marL="0" indent="0">
              <a:spcAft>
                <a:spcPts val="600"/>
              </a:spcAft>
              <a:buNone/>
            </a:pPr>
            <a:r>
              <a:rPr lang="en-US" sz="1300" b="1" dirty="0">
                <a:solidFill>
                  <a:schemeClr val="tx2"/>
                </a:solidFill>
              </a:rPr>
              <a:t>Knowledge base</a:t>
            </a:r>
            <a:endParaRPr lang="en-US" sz="1300" dirty="0"/>
          </a:p>
          <a:p>
            <a:pPr marL="0" indent="0">
              <a:spcAft>
                <a:spcPts val="600"/>
              </a:spcAft>
              <a:buNone/>
            </a:pPr>
            <a:r>
              <a:rPr lang="en-US" sz="1300" dirty="0">
                <a:solidFill>
                  <a:schemeClr val="tx2"/>
                </a:solidFill>
              </a:rPr>
              <a:t>Upload files</a:t>
            </a:r>
            <a:endParaRPr lang="en-US" sz="1300" dirty="0"/>
          </a:p>
          <a:p>
            <a:pPr marL="0" indent="0">
              <a:spcAft>
                <a:spcPts val="600"/>
              </a:spcAft>
              <a:buNone/>
            </a:pPr>
            <a:r>
              <a:rPr lang="en-US" sz="1300" dirty="0">
                <a:solidFill>
                  <a:schemeClr val="tx2"/>
                </a:solidFill>
              </a:rPr>
              <a:t>Add web URL</a:t>
            </a:r>
            <a:endParaRPr lang="en-US" sz="1300" dirty="0"/>
          </a:p>
          <a:p>
            <a:pPr marL="0" indent="0">
              <a:spcAft>
                <a:spcPts val="600"/>
              </a:spcAft>
              <a:buNone/>
            </a:pPr>
            <a:r>
              <a:rPr lang="en-US" sz="1300" dirty="0">
                <a:solidFill>
                  <a:schemeClr val="tx2"/>
                </a:solidFill>
              </a:rPr>
              <a:t>Top-k slider</a:t>
            </a:r>
            <a:endParaRPr lang="en-US" sz="1300" dirty="0"/>
          </a:p>
          <a:p>
            <a:pPr marL="0" indent="0">
              <a:spcAft>
                <a:spcPts val="600"/>
              </a:spcAft>
              <a:buNone/>
            </a:pPr>
            <a:r>
              <a:rPr lang="en-US" sz="1300" dirty="0">
                <a:solidFill>
                  <a:schemeClr val="tx2"/>
                </a:solidFill>
              </a:rPr>
              <a:t>Structured toggle</a:t>
            </a:r>
            <a:endParaRPr lang="en-US" sz="1300" dirty="0"/>
          </a:p>
          <a:p>
            <a:pPr marL="0" indent="0">
              <a:spcAft>
                <a:spcPts val="600"/>
              </a:spcAft>
              <a:buNone/>
            </a:pPr>
            <a:r>
              <a:rPr lang="en-US" sz="1300" dirty="0">
                <a:solidFill>
                  <a:schemeClr val="tx2"/>
                </a:solidFill>
              </a:rPr>
              <a:t>Rebuild index</a:t>
            </a:r>
            <a:endParaRPr lang="en-US" sz="1300" dirty="0"/>
          </a:p>
        </p:txBody>
      </p:sp>
      <p:sp>
        <p:nvSpPr>
          <p:cNvPr id="6" name="ui-tab-0"/>
          <p:cNvSpPr/>
          <p:nvPr/>
        </p:nvSpPr>
        <p:spPr>
          <a:xfrm>
            <a:off x="2788920" y="1645920"/>
            <a:ext cx="1371600" cy="411480"/>
          </a:xfrm>
          <a:prstGeom prst="roundRect">
            <a:avLst>
              <a:gd name="adj" fmla="val 22222"/>
            </a:avLst>
          </a:prstGeom>
          <a:solidFill>
            <a:schemeClr val="accent1"/>
          </a:solidFill>
          <a:ln w="12700">
            <a:solidFill>
              <a:schemeClr val="accent1"/>
            </a:solidFill>
            <a:prstDash val="solid"/>
          </a:ln>
        </p:spPr>
      </p:sp>
      <p:sp>
        <p:nvSpPr>
          <p:cNvPr id="7" name="ui-tab-text-0"/>
          <p:cNvSpPr txBox="1"/>
          <p:nvPr/>
        </p:nvSpPr>
        <p:spPr>
          <a:xfrm>
            <a:off x="2788920" y="1645920"/>
            <a:ext cx="1371600" cy="411480"/>
          </a:xfrm>
          <a:prstGeom prst="rect">
            <a:avLst/>
          </a:prstGeom>
          <a:noFill/>
          <a:ln/>
        </p:spPr>
        <p:txBody>
          <a:bodyPr wrap="square" lIns="0" tIns="0" rIns="0" bIns="0" rtlCol="0" anchor="ctr"/>
          <a:lstStyle/>
          <a:p>
            <a:pPr marL="0" indent="0" algn="ctr">
              <a:buNone/>
            </a:pPr>
            <a:r>
              <a:rPr lang="en-US" sz="1200" b="1" dirty="0">
                <a:solidFill>
                  <a:schemeClr val="bg1"/>
                </a:solidFill>
              </a:rPr>
              <a:t>Ask questions</a:t>
            </a:r>
            <a:endParaRPr lang="en-US" sz="1200" dirty="0"/>
          </a:p>
        </p:txBody>
      </p:sp>
      <p:sp>
        <p:nvSpPr>
          <p:cNvPr id="8" name="ui-tab-1"/>
          <p:cNvSpPr/>
          <p:nvPr/>
        </p:nvSpPr>
        <p:spPr>
          <a:xfrm>
            <a:off x="4297680" y="1645920"/>
            <a:ext cx="1371600" cy="411480"/>
          </a:xfrm>
          <a:prstGeom prst="roundRect">
            <a:avLst>
              <a:gd name="adj" fmla="val 22222"/>
            </a:avLst>
          </a:prstGeom>
          <a:solidFill>
            <a:schemeClr val="bg1"/>
          </a:solidFill>
          <a:ln w="12700">
            <a:solidFill>
              <a:schemeClr val="bg1"/>
            </a:solidFill>
            <a:prstDash val="solid"/>
          </a:ln>
        </p:spPr>
      </p:sp>
      <p:sp>
        <p:nvSpPr>
          <p:cNvPr id="9" name="ui-tab-text-1"/>
          <p:cNvSpPr txBox="1"/>
          <p:nvPr/>
        </p:nvSpPr>
        <p:spPr>
          <a:xfrm>
            <a:off x="4297680" y="1645920"/>
            <a:ext cx="1371600" cy="411480"/>
          </a:xfrm>
          <a:prstGeom prst="rect">
            <a:avLst/>
          </a:prstGeom>
          <a:noFill/>
          <a:ln/>
        </p:spPr>
        <p:txBody>
          <a:bodyPr wrap="square" lIns="0" tIns="0" rIns="0" bIns="0" rtlCol="0" anchor="ctr"/>
          <a:lstStyle/>
          <a:p>
            <a:pPr marL="0" indent="0" algn="ctr">
              <a:buNone/>
            </a:pPr>
            <a:r>
              <a:rPr lang="en-US" sz="1200" b="1" dirty="0">
                <a:solidFill>
                  <a:schemeClr val="tx2"/>
                </a:solidFill>
              </a:rPr>
              <a:t>Compare</a:t>
            </a:r>
            <a:endParaRPr lang="en-US" sz="1200" dirty="0"/>
          </a:p>
        </p:txBody>
      </p:sp>
      <p:sp>
        <p:nvSpPr>
          <p:cNvPr id="10" name="ui-tab-2"/>
          <p:cNvSpPr/>
          <p:nvPr/>
        </p:nvSpPr>
        <p:spPr>
          <a:xfrm>
            <a:off x="5806440" y="1645920"/>
            <a:ext cx="1371600" cy="411480"/>
          </a:xfrm>
          <a:prstGeom prst="roundRect">
            <a:avLst>
              <a:gd name="adj" fmla="val 22222"/>
            </a:avLst>
          </a:prstGeom>
          <a:solidFill>
            <a:schemeClr val="bg1"/>
          </a:solidFill>
          <a:ln w="12700">
            <a:solidFill>
              <a:schemeClr val="bg1"/>
            </a:solidFill>
            <a:prstDash val="solid"/>
          </a:ln>
        </p:spPr>
      </p:sp>
      <p:sp>
        <p:nvSpPr>
          <p:cNvPr id="11" name="ui-tab-text-2"/>
          <p:cNvSpPr txBox="1"/>
          <p:nvPr/>
        </p:nvSpPr>
        <p:spPr>
          <a:xfrm>
            <a:off x="5806440" y="1645920"/>
            <a:ext cx="1371600" cy="411480"/>
          </a:xfrm>
          <a:prstGeom prst="rect">
            <a:avLst/>
          </a:prstGeom>
          <a:noFill/>
          <a:ln/>
        </p:spPr>
        <p:txBody>
          <a:bodyPr wrap="square" lIns="0" tIns="0" rIns="0" bIns="0" rtlCol="0" anchor="ctr"/>
          <a:lstStyle/>
          <a:p>
            <a:pPr marL="0" indent="0" algn="ctr">
              <a:buNone/>
            </a:pPr>
            <a:r>
              <a:rPr lang="en-US" sz="1200" b="1" dirty="0">
                <a:solidFill>
                  <a:schemeClr val="tx2"/>
                </a:solidFill>
              </a:rPr>
              <a:t>Summarize</a:t>
            </a:r>
            <a:endParaRPr lang="en-US" sz="1200" dirty="0"/>
          </a:p>
        </p:txBody>
      </p:sp>
      <p:sp>
        <p:nvSpPr>
          <p:cNvPr id="12" name="ui-msg-user"/>
          <p:cNvSpPr/>
          <p:nvPr/>
        </p:nvSpPr>
        <p:spPr>
          <a:xfrm>
            <a:off x="2788920" y="2331720"/>
            <a:ext cx="4480560" cy="548640"/>
          </a:xfrm>
          <a:prstGeom prst="roundRect">
            <a:avLst>
              <a:gd name="adj" fmla="val 16667"/>
            </a:avLst>
          </a:prstGeom>
          <a:solidFill>
            <a:schemeClr val="bg1"/>
          </a:solidFill>
          <a:ln w="12700">
            <a:solidFill>
              <a:schemeClr val="bg1"/>
            </a:solidFill>
            <a:prstDash val="solid"/>
          </a:ln>
        </p:spPr>
      </p:sp>
      <p:sp>
        <p:nvSpPr>
          <p:cNvPr id="13" name="ui-msg-user-text"/>
          <p:cNvSpPr txBox="1"/>
          <p:nvPr/>
        </p:nvSpPr>
        <p:spPr>
          <a:xfrm>
            <a:off x="2926080" y="2331720"/>
            <a:ext cx="4206240" cy="548640"/>
          </a:xfrm>
          <a:prstGeom prst="rect">
            <a:avLst/>
          </a:prstGeom>
          <a:noFill/>
          <a:ln/>
        </p:spPr>
        <p:txBody>
          <a:bodyPr wrap="square" lIns="0" tIns="0" rIns="0" bIns="0" rtlCol="0" anchor="ctr"/>
          <a:lstStyle/>
          <a:p>
            <a:pPr marL="0" indent="0">
              <a:buNone/>
            </a:pPr>
            <a:r>
              <a:rPr lang="en-US" sz="1200" dirty="0">
                <a:solidFill>
                  <a:schemeClr val="tx1"/>
                </a:solidFill>
              </a:rPr>
              <a:t>What is the price tolerance for three-way match?</a:t>
            </a:r>
            <a:endParaRPr lang="en-US" sz="1200" dirty="0"/>
          </a:p>
        </p:txBody>
      </p:sp>
      <p:sp>
        <p:nvSpPr>
          <p:cNvPr id="14" name="ui-msg-bot"/>
          <p:cNvSpPr/>
          <p:nvPr/>
        </p:nvSpPr>
        <p:spPr>
          <a:xfrm>
            <a:off x="2788920" y="3017520"/>
            <a:ext cx="4480560" cy="1371600"/>
          </a:xfrm>
          <a:prstGeom prst="roundRect">
            <a:avLst>
              <a:gd name="adj" fmla="val 6667"/>
            </a:avLst>
          </a:prstGeom>
          <a:solidFill>
            <a:schemeClr val="accent5"/>
          </a:solidFill>
          <a:ln w="12700">
            <a:solidFill>
              <a:schemeClr val="accent5"/>
            </a:solidFill>
            <a:prstDash val="solid"/>
          </a:ln>
        </p:spPr>
      </p:sp>
      <p:sp>
        <p:nvSpPr>
          <p:cNvPr id="15" name="ui-msg-bot-text"/>
          <p:cNvSpPr txBox="1"/>
          <p:nvPr/>
        </p:nvSpPr>
        <p:spPr>
          <a:xfrm>
            <a:off x="2926080" y="3108960"/>
            <a:ext cx="4206240" cy="822960"/>
          </a:xfrm>
          <a:prstGeom prst="rect">
            <a:avLst/>
          </a:prstGeom>
          <a:noFill/>
          <a:ln/>
        </p:spPr>
        <p:txBody>
          <a:bodyPr wrap="square" lIns="0" tIns="0" rIns="0" bIns="0" rtlCol="0" anchor="t"/>
          <a:lstStyle/>
          <a:p>
            <a:pPr marL="0" indent="0">
              <a:buNone/>
            </a:pPr>
            <a:r>
              <a:rPr lang="en-US" sz="1200" dirty="0">
                <a:solidFill>
                  <a:schemeClr val="tx1"/>
                </a:solidFill>
              </a:rPr>
              <a:t>The tolerance is 2% or 50 EUR, whichever is lower [Source 1]. Quantity tolerance is zero.</a:t>
            </a:r>
            <a:endParaRPr lang="en-US" sz="1200" dirty="0"/>
          </a:p>
        </p:txBody>
      </p:sp>
      <p:sp>
        <p:nvSpPr>
          <p:cNvPr id="16" name="ui-sources"/>
          <p:cNvSpPr txBox="1"/>
          <p:nvPr/>
        </p:nvSpPr>
        <p:spPr>
          <a:xfrm>
            <a:off x="2926080" y="3931920"/>
            <a:ext cx="4206240" cy="365760"/>
          </a:xfrm>
          <a:prstGeom prst="rect">
            <a:avLst/>
          </a:prstGeom>
          <a:noFill/>
          <a:ln/>
        </p:spPr>
        <p:txBody>
          <a:bodyPr wrap="square" lIns="0" tIns="0" rIns="0" bIns="0" rtlCol="0" anchor="t"/>
          <a:lstStyle/>
          <a:p>
            <a:pPr marL="0" indent="0">
              <a:buNone/>
            </a:pPr>
            <a:r>
              <a:rPr lang="en-US" sz="1100" dirty="0">
                <a:solidFill>
                  <a:schemeClr val="accent3"/>
                </a:solidFill>
              </a:rPr>
              <a:t>▸ Sources: AP_Invoice_Processing_Policy.txt (score 0.71)</a:t>
            </a:r>
            <a:endParaRPr lang="en-US" sz="1100" dirty="0"/>
          </a:p>
        </p:txBody>
      </p:sp>
      <p:sp>
        <p:nvSpPr>
          <p:cNvPr id="17" name="ui-input"/>
          <p:cNvSpPr/>
          <p:nvPr/>
        </p:nvSpPr>
        <p:spPr>
          <a:xfrm>
            <a:off x="2788920" y="5120640"/>
            <a:ext cx="4480560" cy="502920"/>
          </a:xfrm>
          <a:prstGeom prst="roundRect">
            <a:avLst>
              <a:gd name="adj" fmla="val 18182"/>
            </a:avLst>
          </a:prstGeom>
          <a:solidFill>
            <a:schemeClr val="bg1"/>
          </a:solidFill>
          <a:ln w="12700">
            <a:solidFill>
              <a:schemeClr val="bg1"/>
            </a:solidFill>
            <a:prstDash val="solid"/>
          </a:ln>
        </p:spPr>
      </p:sp>
      <p:sp>
        <p:nvSpPr>
          <p:cNvPr id="18" name="ui-input-text"/>
          <p:cNvSpPr txBox="1"/>
          <p:nvPr/>
        </p:nvSpPr>
        <p:spPr>
          <a:xfrm>
            <a:off x="2926080" y="5120640"/>
            <a:ext cx="4206240" cy="502920"/>
          </a:xfrm>
          <a:prstGeom prst="rect">
            <a:avLst/>
          </a:prstGeom>
          <a:noFill/>
          <a:ln/>
        </p:spPr>
        <p:txBody>
          <a:bodyPr wrap="square" lIns="0" tIns="0" rIns="0" bIns="0" rtlCol="0" anchor="ctr"/>
          <a:lstStyle/>
          <a:p>
            <a:pPr marL="0" indent="0">
              <a:buNone/>
            </a:pPr>
            <a:r>
              <a:rPr lang="en-US" sz="1200" dirty="0">
                <a:solidFill>
                  <a:schemeClr val="accent3"/>
                </a:solidFill>
              </a:rPr>
              <a:t>Ask a question about your documents</a:t>
            </a:r>
            <a:endParaRPr lang="en-US" sz="1200" dirty="0"/>
          </a:p>
        </p:txBody>
      </p:sp>
      <p:sp>
        <p:nvSpPr>
          <p:cNvPr id="19" name="app-feats"/>
          <p:cNvSpPr txBox="1"/>
          <p:nvPr/>
        </p:nvSpPr>
        <p:spPr>
          <a:xfrm>
            <a:off x="7863840" y="1463040"/>
            <a:ext cx="3749040" cy="43891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Chat with sources shown under every answer</a:t>
            </a:r>
            <a:endParaRPr lang="en-US" sz="1500" dirty="0"/>
          </a:p>
          <a:p>
            <a:pPr marL="342900" indent="-342900">
              <a:spcAft>
                <a:spcPts val="1000"/>
              </a:spcAft>
              <a:buSzPct val="100000"/>
              <a:buChar char="•"/>
            </a:pPr>
            <a:r>
              <a:rPr lang="en-US" sz="1500" dirty="0">
                <a:solidFill>
                  <a:schemeClr val="tx1"/>
                </a:solidFill>
              </a:rPr>
              <a:t>Search all documents or only selected ones</a:t>
            </a:r>
            <a:endParaRPr lang="en-US" sz="1500" dirty="0"/>
          </a:p>
          <a:p>
            <a:pPr marL="342900" indent="-342900">
              <a:spcAft>
                <a:spcPts val="1000"/>
              </a:spcAft>
              <a:buSzPct val="100000"/>
              <a:buChar char="•"/>
            </a:pPr>
            <a:r>
              <a:rPr lang="en-US" sz="1500" dirty="0">
                <a:solidFill>
                  <a:schemeClr val="tx1"/>
                </a:solidFill>
              </a:rPr>
              <a:t>Compare documents side by side</a:t>
            </a:r>
            <a:endParaRPr lang="en-US" sz="1500" dirty="0"/>
          </a:p>
          <a:p>
            <a:pPr marL="342900" indent="-342900">
              <a:spcAft>
                <a:spcPts val="1000"/>
              </a:spcAft>
              <a:buSzPct val="100000"/>
              <a:buChar char="•"/>
            </a:pPr>
            <a:r>
              <a:rPr lang="en-US" sz="1500" dirty="0">
                <a:solidFill>
                  <a:schemeClr val="tx1"/>
                </a:solidFill>
              </a:rPr>
              <a:t>Summarize a document with a progress bar</a:t>
            </a:r>
            <a:endParaRPr lang="en-US" sz="1500" dirty="0"/>
          </a:p>
          <a:p>
            <a:pPr marL="342900" indent="-342900">
              <a:spcAft>
                <a:spcPts val="1000"/>
              </a:spcAft>
              <a:buSzPct val="100000"/>
              <a:buChar char="•"/>
            </a:pPr>
            <a:r>
              <a:rPr lang="en-US" sz="1500" dirty="0">
                <a:solidFill>
                  <a:schemeClr val="tx1"/>
                </a:solidFill>
              </a:rPr>
              <a:t>Cached embedding model, LLM and index</a:t>
            </a:r>
            <a:endParaRPr lang="en-US" sz="1500" dirty="0"/>
          </a:p>
          <a:p>
            <a:pPr marL="342900" indent="-342900">
              <a:spcAft>
                <a:spcPts val="1000"/>
              </a:spcAft>
              <a:buSzPct val="100000"/>
              <a:buChar char="•"/>
            </a:pPr>
            <a:r>
              <a:rPr lang="en-US" sz="1500" dirty="0">
                <a:solidFill>
                  <a:schemeClr val="tx1"/>
                </a:solidFill>
              </a:rPr>
              <a:t>Friendly messages on rate-limit errors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Challenges faced and how they were solved</a:t>
            </a:r>
            <a:endParaRPr lang="en-US" sz="3400" dirty="0"/>
          </a:p>
        </p:txBody>
      </p:sp>
      <p:graphicFrame>
        <p:nvGraphicFramePr>
          <p:cNvPr id="13" name="challeng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663440"/>
        </p:xfrm>
        <a:graphic>
          <a:graphicData uri="http://schemas.openxmlformats.org/drawingml/2006/table">
            <a:tbl>
              <a:tblPr/>
              <a:tblGrid>
                <a:gridCol w="27432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777240">
                <a:tc>
                  <a:txBody>
                    <a:bodyPr/>
                    <a:lstStyle/>
                    <a:p>
                      <a:pPr marL="0" indent="0">
                        <a:buNone/>
                      </a:pPr>
                      <a:r>
                        <a:rPr lang="en-US" sz="1400" b="1" dirty="0">
                          <a:solidFill>
                            <a:schemeClr val="bg1"/>
                          </a:solidFill>
                        </a:rPr>
                        <a:t>Challenge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Cause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Solution</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400" dirty="0">
                          <a:solidFill>
                            <a:schemeClr val="tx1"/>
                          </a:solidFill>
                        </a:rPr>
                        <a:t>Groq 413 / 429 errors</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Free tier: limited tokens per minute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Smaller summary groups, one call at a time, automatic wait + retry</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dirty="0">
                          <a:solidFill>
                            <a:schemeClr val="tx1"/>
                          </a:solidFill>
                        </a:rPr>
                        <a:t>PDF read as raw bytes</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PDF reader package missing</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Added llama-index-readers-file; code checks and stops with a clear message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dirty="0">
                          <a:solidFill>
                            <a:schemeClr val="tx1"/>
                          </a:solidFill>
                        </a:rPr>
                        <a:t>Document filter error</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List filter behaved differently across versions</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One equality filter per document joined with OR</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400" dirty="0">
                          <a:solidFill>
                            <a:schemeClr val="tx1"/>
                          </a:solidFill>
                        </a:rPr>
                        <a:t>“No documents” in notebook</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Relative paths depended on the start folder</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data/ and storage/ always next to the code file</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400" dirty="0">
                          <a:solidFill>
                            <a:schemeClr val="tx1"/>
                          </a:solidFill>
                        </a:rPr>
                        <a:t>Whole-document summary in chat</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Chat sees only top-k chunks</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400" dirty="0">
                          <a:solidFill>
                            <a:schemeClr val="tx1"/>
                          </a:solidFill>
                        </a:rPr>
                        <a:t>Summary requests routed to the map-reduce summarizer</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Testing: questions with known answers</a:t>
            </a:r>
            <a:endParaRPr lang="en-US" sz="3400" dirty="0"/>
          </a:p>
        </p:txBody>
      </p:sp>
      <p:graphicFrame>
        <p:nvGraphicFramePr>
          <p:cNvPr id="14" name="test-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535424"/>
        </p:xfrm>
        <a:graphic>
          <a:graphicData uri="http://schemas.openxmlformats.org/drawingml/2006/table">
            <a:tbl>
              <a:tblPr/>
              <a:tblGrid>
                <a:gridCol w="21945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Test</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Question</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Expected result</a:t>
                      </a:r>
                      <a:endParaRPr lang="en-US" sz="14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chemeClr val="tx1"/>
                          </a:solidFill>
                        </a:rPr>
                        <a:t>Grounded answer</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Price tolerance for three-way match?</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2% or 50 EUR, whichever is lower + source</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dirty="0">
                          <a:solidFill>
                            <a:schemeClr val="tx1"/>
                          </a:solidFill>
                        </a:rPr>
                        <a:t>Grounded answer</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Maximum hotel rate in London?</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150 EUR per night (Tier-1 city)</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dirty="0">
                          <a:solidFill>
                            <a:schemeClr val="tx1"/>
                          </a:solidFill>
                        </a:rPr>
                        <a:t>Follow-up memory</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Payment term? → And can it be paid earlier?</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60 days → only with ≥ 2% discount</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500" dirty="0">
                          <a:solidFill>
                            <a:schemeClr val="tx1"/>
                          </a:solidFill>
                        </a:rPr>
                        <a:t>No hallucination</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Who won the IPL 2026?</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“I could not find this information…”</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500" dirty="0">
                          <a:solidFill>
                            <a:schemeClr val="tx1"/>
                          </a:solidFill>
                        </a:rPr>
                        <a:t>Document filter</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Approval limits (T&amp;E policy only)</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Only expense approval rules returned</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500" dirty="0">
                          <a:solidFill>
                            <a:schemeClr val="tx1"/>
                          </a:solidFill>
                        </a:rPr>
                        <a:t>Compare</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Approval rules across both policies</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Per-document answers + comparison table</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500" dirty="0">
                          <a:solidFill>
                            <a:schemeClr val="tx1"/>
                          </a:solidFill>
                        </a:rPr>
                        <a:t>Summary</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Summarize the AP policy</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tc>
                  <a:txBody>
                    <a:bodyPr/>
                    <a:lstStyle/>
                    <a:p>
                      <a:pPr marL="0" indent="0">
                        <a:buNone/>
                      </a:pPr>
                      <a:r>
                        <a:rPr lang="en-US" sz="1500" dirty="0">
                          <a:solidFill>
                            <a:schemeClr val="tx1"/>
                          </a:solidFill>
                        </a:rPr>
                        <a:t>Overview + key numbers and deadlines</a:t>
                      </a:r>
                      <a:endParaRPr lang="en-US" sz="1500" dirty="0"/>
                    </a:p>
                  </a:txBody>
                  <a:tcPr anchor="ctr">
                    <a:lnL w="9525" cap="flat" cmpd="sng" algn="ctr">
                      <a:solidFill>
                        <a:srgbClr val="D0D7DC"/>
                      </a:solidFill>
                      <a:prstDash val="solid"/>
                      <a:round/>
                      <a:headEnd type="none" w="med" len="med"/>
                      <a:tailEnd type="none" w="med" len="med"/>
                    </a:lnL>
                    <a:lnR w="9525" cap="flat" cmpd="sng" algn="ctr">
                      <a:solidFill>
                        <a:srgbClr val="D0D7DC"/>
                      </a:solidFill>
                      <a:prstDash val="solid"/>
                      <a:round/>
                      <a:headEnd type="none" w="med" len="med"/>
                      <a:tailEnd type="none" w="med" len="med"/>
                    </a:lnR>
                    <a:lnT w="9525" cap="flat" cmpd="sng" algn="ctr">
                      <a:solidFill>
                        <a:srgbClr val="D0D7DC"/>
                      </a:solidFill>
                      <a:prstDash val="solid"/>
                      <a:round/>
                      <a:headEnd type="none" w="med" len="med"/>
                      <a:tailEnd type="none" w="med" len="med"/>
                    </a:lnT>
                    <a:lnB w="9525" cap="flat" cmpd="sng" algn="ctr">
                      <a:solidFill>
                        <a:srgbClr val="D0D7D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Deliverables in the GitHub repository</a:t>
            </a:r>
            <a:endParaRPr lang="en-US" sz="3400" dirty="0"/>
          </a:p>
        </p:txBody>
      </p:sp>
      <p:sp>
        <p:nvSpPr>
          <p:cNvPr id="3" name="deliv-card-0"/>
          <p:cNvSpPr/>
          <p:nvPr/>
        </p:nvSpPr>
        <p:spPr>
          <a:xfrm>
            <a:off x="548640" y="1417320"/>
            <a:ext cx="5440680" cy="1325880"/>
          </a:xfrm>
          <a:prstGeom prst="roundRect">
            <a:avLst>
              <a:gd name="adj" fmla="val 6897"/>
            </a:avLst>
          </a:prstGeom>
          <a:solidFill>
            <a:schemeClr val="bg2"/>
          </a:solidFill>
          <a:ln w="12700">
            <a:solidFill>
              <a:schemeClr val="bg2"/>
            </a:solidFill>
            <a:prstDash val="solid"/>
          </a:ln>
        </p:spPr>
      </p:sp>
      <p:sp>
        <p:nvSpPr>
          <p:cNvPr id="4" name="deliv-icon-0-circle"/>
          <p:cNvSpPr/>
          <p:nvPr/>
        </p:nvSpPr>
        <p:spPr>
          <a:xfrm>
            <a:off x="777240" y="1709928"/>
            <a:ext cx="731520" cy="731520"/>
          </a:xfrm>
          <a:prstGeom prst="ellipse">
            <a:avLst/>
          </a:prstGeom>
          <a:solidFill>
            <a:schemeClr val="accent1"/>
          </a:solidFill>
          <a:ln w="12700">
            <a:solidFill>
              <a:schemeClr val="accent1"/>
            </a:solidFill>
            <a:prstDash val="solid"/>
          </a:ln>
        </p:spPr>
      </p:sp>
      <p:pic>
        <p:nvPicPr>
          <p:cNvPr id="5" name="deliv-icon-0" descr="preencoded.png"/>
          <p:cNvPicPr>
            <a:picLocks noChangeAspect="1"/>
          </p:cNvPicPr>
          <p:nvPr/>
        </p:nvPicPr>
        <p:blipFill>
          <a:blip r:embed="rId3"/>
          <a:stretch>
            <a:fillRect/>
          </a:stretch>
        </p:blipFill>
        <p:spPr>
          <a:xfrm>
            <a:off x="967435" y="1900123"/>
            <a:ext cx="351130" cy="351130"/>
          </a:xfrm>
          <a:prstGeom prst="rect">
            <a:avLst/>
          </a:prstGeom>
        </p:spPr>
      </p:pic>
      <p:sp>
        <p:nvSpPr>
          <p:cNvPr id="6" name="deliv-head-0"/>
          <p:cNvSpPr txBox="1"/>
          <p:nvPr/>
        </p:nvSpPr>
        <p:spPr>
          <a:xfrm>
            <a:off x="1737360" y="1618488"/>
            <a:ext cx="4069080" cy="365760"/>
          </a:xfrm>
          <a:prstGeom prst="rect">
            <a:avLst/>
          </a:prstGeom>
          <a:noFill/>
          <a:ln/>
        </p:spPr>
        <p:txBody>
          <a:bodyPr wrap="square" lIns="0" tIns="0" rIns="0" bIns="0" rtlCol="0" anchor="t"/>
          <a:lstStyle/>
          <a:p>
            <a:pPr marL="0" indent="0">
              <a:buNone/>
            </a:pPr>
            <a:r>
              <a:rPr lang="en-US" sz="1700" b="1" dirty="0">
                <a:solidFill>
                  <a:schemeClr val="tx2"/>
                </a:solidFill>
              </a:rPr>
              <a:t>RAG_Document_Assistant.ipynb</a:t>
            </a:r>
            <a:endParaRPr lang="en-US" sz="1700" dirty="0"/>
          </a:p>
        </p:txBody>
      </p:sp>
      <p:sp>
        <p:nvSpPr>
          <p:cNvPr id="7" name="deliv-text-0"/>
          <p:cNvSpPr txBox="1"/>
          <p:nvPr/>
        </p:nvSpPr>
        <p:spPr>
          <a:xfrm>
            <a:off x="1737360" y="201168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Step-by-step notebook with a test after every step, developed and run in VS Code</a:t>
            </a:r>
            <a:endParaRPr lang="en-US" sz="1400" dirty="0"/>
          </a:p>
        </p:txBody>
      </p:sp>
      <p:sp>
        <p:nvSpPr>
          <p:cNvPr id="8" name="deliv-card-1"/>
          <p:cNvSpPr/>
          <p:nvPr/>
        </p:nvSpPr>
        <p:spPr>
          <a:xfrm>
            <a:off x="6172200" y="1417320"/>
            <a:ext cx="5440680" cy="1325880"/>
          </a:xfrm>
          <a:prstGeom prst="roundRect">
            <a:avLst>
              <a:gd name="adj" fmla="val 6897"/>
            </a:avLst>
          </a:prstGeom>
          <a:solidFill>
            <a:schemeClr val="bg2"/>
          </a:solidFill>
          <a:ln w="12700">
            <a:solidFill>
              <a:schemeClr val="bg2"/>
            </a:solidFill>
            <a:prstDash val="solid"/>
          </a:ln>
        </p:spPr>
      </p:sp>
      <p:sp>
        <p:nvSpPr>
          <p:cNvPr id="9" name="deliv-icon-1-circle"/>
          <p:cNvSpPr/>
          <p:nvPr/>
        </p:nvSpPr>
        <p:spPr>
          <a:xfrm>
            <a:off x="6400800" y="1709928"/>
            <a:ext cx="731520" cy="731520"/>
          </a:xfrm>
          <a:prstGeom prst="ellipse">
            <a:avLst/>
          </a:prstGeom>
          <a:solidFill>
            <a:schemeClr val="accent1"/>
          </a:solidFill>
          <a:ln w="12700">
            <a:solidFill>
              <a:schemeClr val="accent1"/>
            </a:solidFill>
            <a:prstDash val="solid"/>
          </a:ln>
        </p:spPr>
      </p:sp>
      <p:pic>
        <p:nvPicPr>
          <p:cNvPr id="10" name="deliv-icon-1" descr="preencoded.png"/>
          <p:cNvPicPr>
            <a:picLocks noChangeAspect="1"/>
          </p:cNvPicPr>
          <p:nvPr/>
        </p:nvPicPr>
        <p:blipFill>
          <a:blip r:embed="rId4"/>
          <a:stretch>
            <a:fillRect/>
          </a:stretch>
        </p:blipFill>
        <p:spPr>
          <a:xfrm>
            <a:off x="6590995" y="1900123"/>
            <a:ext cx="351130" cy="351130"/>
          </a:xfrm>
          <a:prstGeom prst="rect">
            <a:avLst/>
          </a:prstGeom>
        </p:spPr>
      </p:pic>
      <p:sp>
        <p:nvSpPr>
          <p:cNvPr id="11" name="deliv-head-1"/>
          <p:cNvSpPr txBox="1"/>
          <p:nvPr/>
        </p:nvSpPr>
        <p:spPr>
          <a:xfrm>
            <a:off x="7360920" y="1618488"/>
            <a:ext cx="4069080" cy="365760"/>
          </a:xfrm>
          <a:prstGeom prst="rect">
            <a:avLst/>
          </a:prstGeom>
          <a:noFill/>
          <a:ln/>
        </p:spPr>
        <p:txBody>
          <a:bodyPr wrap="square" lIns="0" tIns="0" rIns="0" bIns="0" rtlCol="0" anchor="t"/>
          <a:lstStyle/>
          <a:p>
            <a:pPr marL="0" indent="0">
              <a:buNone/>
            </a:pPr>
            <a:r>
              <a:rPr lang="en-US" sz="1700" b="1" dirty="0">
                <a:solidFill>
                  <a:schemeClr val="tx2"/>
                </a:solidFill>
              </a:rPr>
              <a:t>rag_document_assistant.py</a:t>
            </a:r>
            <a:endParaRPr lang="en-US" sz="1700" dirty="0"/>
          </a:p>
        </p:txBody>
      </p:sp>
      <p:sp>
        <p:nvSpPr>
          <p:cNvPr id="12" name="deliv-text-1"/>
          <p:cNvSpPr txBox="1"/>
          <p:nvPr/>
        </p:nvSpPr>
        <p:spPr>
          <a:xfrm>
            <a:off x="7360920" y="201168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Same code as the notebook + Streamlit UI = the deployed application</a:t>
            </a:r>
            <a:endParaRPr lang="en-US" sz="1400" dirty="0"/>
          </a:p>
        </p:txBody>
      </p:sp>
      <p:sp>
        <p:nvSpPr>
          <p:cNvPr id="13" name="deliv-card-2"/>
          <p:cNvSpPr/>
          <p:nvPr/>
        </p:nvSpPr>
        <p:spPr>
          <a:xfrm>
            <a:off x="548640" y="2971800"/>
            <a:ext cx="5440680" cy="1325880"/>
          </a:xfrm>
          <a:prstGeom prst="roundRect">
            <a:avLst>
              <a:gd name="adj" fmla="val 6897"/>
            </a:avLst>
          </a:prstGeom>
          <a:solidFill>
            <a:schemeClr val="bg2"/>
          </a:solidFill>
          <a:ln w="12700">
            <a:solidFill>
              <a:schemeClr val="bg2"/>
            </a:solidFill>
            <a:prstDash val="solid"/>
          </a:ln>
        </p:spPr>
      </p:sp>
      <p:sp>
        <p:nvSpPr>
          <p:cNvPr id="14" name="deliv-icon-2-circle"/>
          <p:cNvSpPr/>
          <p:nvPr/>
        </p:nvSpPr>
        <p:spPr>
          <a:xfrm>
            <a:off x="777240" y="3264408"/>
            <a:ext cx="731520" cy="731520"/>
          </a:xfrm>
          <a:prstGeom prst="ellipse">
            <a:avLst/>
          </a:prstGeom>
          <a:solidFill>
            <a:schemeClr val="accent1"/>
          </a:solidFill>
          <a:ln w="12700">
            <a:solidFill>
              <a:schemeClr val="accent1"/>
            </a:solidFill>
            <a:prstDash val="solid"/>
          </a:ln>
        </p:spPr>
      </p:sp>
      <p:pic>
        <p:nvPicPr>
          <p:cNvPr id="15" name="deliv-icon-2" descr="preencoded.png"/>
          <p:cNvPicPr>
            <a:picLocks noChangeAspect="1"/>
          </p:cNvPicPr>
          <p:nvPr/>
        </p:nvPicPr>
        <p:blipFill>
          <a:blip r:embed="rId5"/>
          <a:stretch>
            <a:fillRect/>
          </a:stretch>
        </p:blipFill>
        <p:spPr>
          <a:xfrm>
            <a:off x="967435" y="3454603"/>
            <a:ext cx="351130" cy="351130"/>
          </a:xfrm>
          <a:prstGeom prst="rect">
            <a:avLst/>
          </a:prstGeom>
        </p:spPr>
      </p:pic>
      <p:sp>
        <p:nvSpPr>
          <p:cNvPr id="16" name="deliv-head-2"/>
          <p:cNvSpPr txBox="1"/>
          <p:nvPr/>
        </p:nvSpPr>
        <p:spPr>
          <a:xfrm>
            <a:off x="1737360" y="3172968"/>
            <a:ext cx="4069080" cy="365760"/>
          </a:xfrm>
          <a:prstGeom prst="rect">
            <a:avLst/>
          </a:prstGeom>
          <a:noFill/>
          <a:ln/>
        </p:spPr>
        <p:txBody>
          <a:bodyPr wrap="square" lIns="0" tIns="0" rIns="0" bIns="0" rtlCol="0" anchor="t"/>
          <a:lstStyle/>
          <a:p>
            <a:pPr marL="0" indent="0">
              <a:buNone/>
            </a:pPr>
            <a:r>
              <a:rPr lang="en-US" sz="1700" b="1" dirty="0">
                <a:solidFill>
                  <a:schemeClr val="tx2"/>
                </a:solidFill>
              </a:rPr>
              <a:t>requirements.txt</a:t>
            </a:r>
            <a:endParaRPr lang="en-US" sz="1700" dirty="0"/>
          </a:p>
        </p:txBody>
      </p:sp>
      <p:sp>
        <p:nvSpPr>
          <p:cNvPr id="17" name="deliv-text-2"/>
          <p:cNvSpPr txBox="1"/>
          <p:nvPr/>
        </p:nvSpPr>
        <p:spPr>
          <a:xfrm>
            <a:off x="1737360" y="356616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Every package Streamlit Cloud installs (LangChain, LlamaIndex, Streamlit…)</a:t>
            </a:r>
            <a:endParaRPr lang="en-US" sz="1400" dirty="0"/>
          </a:p>
        </p:txBody>
      </p:sp>
      <p:sp>
        <p:nvSpPr>
          <p:cNvPr id="18" name="deliv-card-3"/>
          <p:cNvSpPr/>
          <p:nvPr/>
        </p:nvSpPr>
        <p:spPr>
          <a:xfrm>
            <a:off x="6172200" y="2971800"/>
            <a:ext cx="5440680" cy="1325880"/>
          </a:xfrm>
          <a:prstGeom prst="roundRect">
            <a:avLst>
              <a:gd name="adj" fmla="val 6897"/>
            </a:avLst>
          </a:prstGeom>
          <a:solidFill>
            <a:schemeClr val="bg2"/>
          </a:solidFill>
          <a:ln w="12700">
            <a:solidFill>
              <a:schemeClr val="bg2"/>
            </a:solidFill>
            <a:prstDash val="solid"/>
          </a:ln>
        </p:spPr>
      </p:sp>
      <p:sp>
        <p:nvSpPr>
          <p:cNvPr id="19" name="deliv-icon-3-circle"/>
          <p:cNvSpPr/>
          <p:nvPr/>
        </p:nvSpPr>
        <p:spPr>
          <a:xfrm>
            <a:off x="6400800" y="3264408"/>
            <a:ext cx="731520" cy="731520"/>
          </a:xfrm>
          <a:prstGeom prst="ellipse">
            <a:avLst/>
          </a:prstGeom>
          <a:solidFill>
            <a:schemeClr val="accent1"/>
          </a:solidFill>
          <a:ln w="12700">
            <a:solidFill>
              <a:schemeClr val="accent1"/>
            </a:solidFill>
            <a:prstDash val="solid"/>
          </a:ln>
        </p:spPr>
      </p:sp>
      <p:pic>
        <p:nvPicPr>
          <p:cNvPr id="20" name="deliv-icon-3" descr="preencoded.png"/>
          <p:cNvPicPr>
            <a:picLocks noChangeAspect="1"/>
          </p:cNvPicPr>
          <p:nvPr/>
        </p:nvPicPr>
        <p:blipFill>
          <a:blip r:embed="rId6"/>
          <a:stretch>
            <a:fillRect/>
          </a:stretch>
        </p:blipFill>
        <p:spPr>
          <a:xfrm>
            <a:off x="6590995" y="3454603"/>
            <a:ext cx="351130" cy="351130"/>
          </a:xfrm>
          <a:prstGeom prst="rect">
            <a:avLst/>
          </a:prstGeom>
        </p:spPr>
      </p:pic>
      <p:sp>
        <p:nvSpPr>
          <p:cNvPr id="21" name="deliv-head-3"/>
          <p:cNvSpPr txBox="1"/>
          <p:nvPr/>
        </p:nvSpPr>
        <p:spPr>
          <a:xfrm>
            <a:off x="7360920" y="3172968"/>
            <a:ext cx="4069080" cy="365760"/>
          </a:xfrm>
          <a:prstGeom prst="rect">
            <a:avLst/>
          </a:prstGeom>
          <a:noFill/>
          <a:ln/>
        </p:spPr>
        <p:txBody>
          <a:bodyPr wrap="square" lIns="0" tIns="0" rIns="0" bIns="0" rtlCol="0" anchor="t"/>
          <a:lstStyle/>
          <a:p>
            <a:pPr marL="0" indent="0">
              <a:buNone/>
            </a:pPr>
            <a:r>
              <a:rPr lang="en-US" sz="1700" b="1" dirty="0">
                <a:solidFill>
                  <a:schemeClr val="tx2"/>
                </a:solidFill>
              </a:rPr>
              <a:t>data/</a:t>
            </a:r>
            <a:endParaRPr lang="en-US" sz="1700" dirty="0"/>
          </a:p>
        </p:txBody>
      </p:sp>
      <p:sp>
        <p:nvSpPr>
          <p:cNvPr id="22" name="deliv-text-3"/>
          <p:cNvSpPr txBox="1"/>
          <p:nvPr/>
        </p:nvSpPr>
        <p:spPr>
          <a:xfrm>
            <a:off x="7360920" y="356616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Sample documents that the deployed app indexes on start-up</a:t>
            </a:r>
            <a:endParaRPr lang="en-US" sz="1400" dirty="0"/>
          </a:p>
        </p:txBody>
      </p:sp>
      <p:sp>
        <p:nvSpPr>
          <p:cNvPr id="23" name="deliv-card-4"/>
          <p:cNvSpPr/>
          <p:nvPr/>
        </p:nvSpPr>
        <p:spPr>
          <a:xfrm>
            <a:off x="548640" y="4526280"/>
            <a:ext cx="5440680" cy="1325880"/>
          </a:xfrm>
          <a:prstGeom prst="roundRect">
            <a:avLst>
              <a:gd name="adj" fmla="val 6897"/>
            </a:avLst>
          </a:prstGeom>
          <a:solidFill>
            <a:schemeClr val="bg2"/>
          </a:solidFill>
          <a:ln w="12700">
            <a:solidFill>
              <a:schemeClr val="bg2"/>
            </a:solidFill>
            <a:prstDash val="solid"/>
          </a:ln>
        </p:spPr>
      </p:sp>
      <p:sp>
        <p:nvSpPr>
          <p:cNvPr id="24" name="deliv-icon-4-circle"/>
          <p:cNvSpPr/>
          <p:nvPr/>
        </p:nvSpPr>
        <p:spPr>
          <a:xfrm>
            <a:off x="777240" y="4818888"/>
            <a:ext cx="731520" cy="731520"/>
          </a:xfrm>
          <a:prstGeom prst="ellipse">
            <a:avLst/>
          </a:prstGeom>
          <a:solidFill>
            <a:schemeClr val="accent1"/>
          </a:solidFill>
          <a:ln w="12700">
            <a:solidFill>
              <a:schemeClr val="accent1"/>
            </a:solidFill>
            <a:prstDash val="solid"/>
          </a:ln>
        </p:spPr>
      </p:sp>
      <p:pic>
        <p:nvPicPr>
          <p:cNvPr id="25" name="deliv-icon-4" descr="preencoded.png"/>
          <p:cNvPicPr>
            <a:picLocks noChangeAspect="1"/>
          </p:cNvPicPr>
          <p:nvPr/>
        </p:nvPicPr>
        <p:blipFill>
          <a:blip r:embed="rId7"/>
          <a:stretch>
            <a:fillRect/>
          </a:stretch>
        </p:blipFill>
        <p:spPr>
          <a:xfrm>
            <a:off x="967435" y="5009083"/>
            <a:ext cx="351130" cy="351130"/>
          </a:xfrm>
          <a:prstGeom prst="rect">
            <a:avLst/>
          </a:prstGeom>
        </p:spPr>
      </p:pic>
      <p:sp>
        <p:nvSpPr>
          <p:cNvPr id="26" name="deliv-head-4"/>
          <p:cNvSpPr txBox="1"/>
          <p:nvPr/>
        </p:nvSpPr>
        <p:spPr>
          <a:xfrm>
            <a:off x="1737360" y="4727448"/>
            <a:ext cx="4069080" cy="365760"/>
          </a:xfrm>
          <a:prstGeom prst="rect">
            <a:avLst/>
          </a:prstGeom>
          <a:noFill/>
          <a:ln/>
        </p:spPr>
        <p:txBody>
          <a:bodyPr wrap="square" lIns="0" tIns="0" rIns="0" bIns="0" rtlCol="0" anchor="t"/>
          <a:lstStyle/>
          <a:p>
            <a:pPr marL="0" indent="0">
              <a:buNone/>
            </a:pPr>
            <a:r>
              <a:rPr lang="en-US" sz="1700" b="1" dirty="0">
                <a:solidFill>
                  <a:schemeClr val="tx2"/>
                </a:solidFill>
              </a:rPr>
              <a:t>.gitignore</a:t>
            </a:r>
            <a:endParaRPr lang="en-US" sz="1700" dirty="0"/>
          </a:p>
        </p:txBody>
      </p:sp>
      <p:sp>
        <p:nvSpPr>
          <p:cNvPr id="27" name="deliv-text-4"/>
          <p:cNvSpPr txBox="1"/>
          <p:nvPr/>
        </p:nvSpPr>
        <p:spPr>
          <a:xfrm>
            <a:off x="1737360" y="512064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Keeps .env (API keys), .venv/, storage/ and __pycache__/ out of GitHub</a:t>
            </a:r>
            <a:endParaRPr lang="en-US" sz="1400" dirty="0"/>
          </a:p>
        </p:txBody>
      </p:sp>
      <p:sp>
        <p:nvSpPr>
          <p:cNvPr id="28" name="deliv-card-5"/>
          <p:cNvSpPr/>
          <p:nvPr/>
        </p:nvSpPr>
        <p:spPr>
          <a:xfrm>
            <a:off x="6172200" y="4526280"/>
            <a:ext cx="5440680" cy="1325880"/>
          </a:xfrm>
          <a:prstGeom prst="roundRect">
            <a:avLst>
              <a:gd name="adj" fmla="val 6897"/>
            </a:avLst>
          </a:prstGeom>
          <a:solidFill>
            <a:schemeClr val="bg2"/>
          </a:solidFill>
          <a:ln w="12700">
            <a:solidFill>
              <a:schemeClr val="bg2"/>
            </a:solidFill>
            <a:prstDash val="solid"/>
          </a:ln>
        </p:spPr>
      </p:sp>
      <p:sp>
        <p:nvSpPr>
          <p:cNvPr id="29" name="deliv-icon-5-circle"/>
          <p:cNvSpPr/>
          <p:nvPr/>
        </p:nvSpPr>
        <p:spPr>
          <a:xfrm>
            <a:off x="6400800" y="4818888"/>
            <a:ext cx="731520" cy="731520"/>
          </a:xfrm>
          <a:prstGeom prst="ellipse">
            <a:avLst/>
          </a:prstGeom>
          <a:solidFill>
            <a:schemeClr val="accent2"/>
          </a:solidFill>
          <a:ln w="12700">
            <a:solidFill>
              <a:schemeClr val="accent2"/>
            </a:solidFill>
            <a:prstDash val="solid"/>
          </a:ln>
        </p:spPr>
      </p:sp>
      <p:pic>
        <p:nvPicPr>
          <p:cNvPr id="30" name="deliv-icon-5" descr="preencoded.png"/>
          <p:cNvPicPr>
            <a:picLocks noChangeAspect="1"/>
          </p:cNvPicPr>
          <p:nvPr/>
        </p:nvPicPr>
        <p:blipFill>
          <a:blip r:embed="rId8"/>
          <a:stretch>
            <a:fillRect/>
          </a:stretch>
        </p:blipFill>
        <p:spPr>
          <a:xfrm>
            <a:off x="6590995" y="5009083"/>
            <a:ext cx="351130" cy="351130"/>
          </a:xfrm>
          <a:prstGeom prst="rect">
            <a:avLst/>
          </a:prstGeom>
        </p:spPr>
      </p:pic>
      <p:sp>
        <p:nvSpPr>
          <p:cNvPr id="31" name="deliv-head-5"/>
          <p:cNvSpPr txBox="1"/>
          <p:nvPr/>
        </p:nvSpPr>
        <p:spPr>
          <a:xfrm>
            <a:off x="7360920" y="4727448"/>
            <a:ext cx="4069080" cy="365760"/>
          </a:xfrm>
          <a:prstGeom prst="rect">
            <a:avLst/>
          </a:prstGeom>
          <a:noFill/>
          <a:ln/>
        </p:spPr>
        <p:txBody>
          <a:bodyPr wrap="square" lIns="0" tIns="0" rIns="0" bIns="0" rtlCol="0" anchor="t"/>
          <a:lstStyle/>
          <a:p>
            <a:pPr marL="0" indent="0">
              <a:buNone/>
            </a:pPr>
            <a:r>
              <a:rPr lang="en-US" sz="1700" b="1" dirty="0">
                <a:solidFill>
                  <a:schemeClr val="tx2"/>
                </a:solidFill>
              </a:rPr>
              <a:t>GitHub repository</a:t>
            </a:r>
            <a:endParaRPr lang="en-US" sz="1700" dirty="0"/>
          </a:p>
        </p:txBody>
      </p:sp>
      <p:sp>
        <p:nvSpPr>
          <p:cNvPr id="32" name="deliv-text-5"/>
          <p:cNvSpPr txBox="1"/>
          <p:nvPr/>
        </p:nvSpPr>
        <p:spPr>
          <a:xfrm>
            <a:off x="7360920" y="5120640"/>
            <a:ext cx="4069080" cy="640080"/>
          </a:xfrm>
          <a:prstGeom prst="rect">
            <a:avLst/>
          </a:prstGeom>
          <a:noFill/>
          <a:ln/>
        </p:spPr>
        <p:txBody>
          <a:bodyPr wrap="square" lIns="0" tIns="0" rIns="0" bIns="0" rtlCol="0" anchor="t"/>
          <a:lstStyle/>
          <a:p>
            <a:pPr marL="0" indent="0">
              <a:buNone/>
            </a:pPr>
            <a:r>
              <a:rPr lang="en-US" sz="1400" dirty="0">
                <a:solidFill>
                  <a:schemeClr val="accent3"/>
                </a:solidFill>
              </a:rPr>
              <a:t>Single source for the code; Streamlit Cloud deploys from its main branch</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Deployment: VS Code → GitHub → Streamlit Cloud</a:t>
            </a:r>
            <a:endParaRPr lang="en-US" sz="3400" dirty="0"/>
          </a:p>
        </p:txBody>
      </p:sp>
      <p:sp>
        <p:nvSpPr>
          <p:cNvPr id="3" name="pipe-icon-0-circle"/>
          <p:cNvSpPr/>
          <p:nvPr/>
        </p:nvSpPr>
        <p:spPr>
          <a:xfrm>
            <a:off x="548640" y="1371600"/>
            <a:ext cx="777240" cy="777240"/>
          </a:xfrm>
          <a:prstGeom prst="ellipse">
            <a:avLst/>
          </a:prstGeom>
          <a:solidFill>
            <a:schemeClr val="accent1"/>
          </a:solidFill>
          <a:ln w="12700">
            <a:solidFill>
              <a:schemeClr val="accent1"/>
            </a:solidFill>
            <a:prstDash val="solid"/>
          </a:ln>
        </p:spPr>
      </p:sp>
      <p:pic>
        <p:nvPicPr>
          <p:cNvPr id="4" name="pipe-icon-0" descr="preencoded.png"/>
          <p:cNvPicPr>
            <a:picLocks noChangeAspect="1"/>
          </p:cNvPicPr>
          <p:nvPr/>
        </p:nvPicPr>
        <p:blipFill>
          <a:blip r:embed="rId3"/>
          <a:stretch>
            <a:fillRect/>
          </a:stretch>
        </p:blipFill>
        <p:spPr>
          <a:xfrm>
            <a:off x="750722" y="1573682"/>
            <a:ext cx="373075" cy="373075"/>
          </a:xfrm>
          <a:prstGeom prst="rect">
            <a:avLst/>
          </a:prstGeom>
        </p:spPr>
      </p:pic>
      <p:sp>
        <p:nvSpPr>
          <p:cNvPr id="5" name="pipe-head-0"/>
          <p:cNvSpPr txBox="1"/>
          <p:nvPr/>
        </p:nvSpPr>
        <p:spPr>
          <a:xfrm>
            <a:off x="1463040" y="1371600"/>
            <a:ext cx="2514600" cy="365760"/>
          </a:xfrm>
          <a:prstGeom prst="rect">
            <a:avLst/>
          </a:prstGeom>
          <a:noFill/>
          <a:ln/>
        </p:spPr>
        <p:txBody>
          <a:bodyPr wrap="square" lIns="0" tIns="0" rIns="0" bIns="0" rtlCol="0" anchor="t"/>
          <a:lstStyle/>
          <a:p>
            <a:pPr marL="0" indent="0">
              <a:buNone/>
            </a:pPr>
            <a:r>
              <a:rPr lang="en-US" sz="1700" b="1" dirty="0">
                <a:solidFill>
                  <a:schemeClr val="tx2"/>
                </a:solidFill>
              </a:rPr>
              <a:t>VS Code</a:t>
            </a:r>
            <a:endParaRPr lang="en-US" sz="1700" dirty="0"/>
          </a:p>
        </p:txBody>
      </p:sp>
      <p:sp>
        <p:nvSpPr>
          <p:cNvPr id="6" name="pipe-text-0"/>
          <p:cNvSpPr txBox="1"/>
          <p:nvPr/>
        </p:nvSpPr>
        <p:spPr>
          <a:xfrm>
            <a:off x="1463040" y="1737360"/>
            <a:ext cx="2514600" cy="640080"/>
          </a:xfrm>
          <a:prstGeom prst="rect">
            <a:avLst/>
          </a:prstGeom>
          <a:noFill/>
          <a:ln/>
        </p:spPr>
        <p:txBody>
          <a:bodyPr wrap="square" lIns="0" tIns="0" rIns="0" bIns="0" rtlCol="0" anchor="t"/>
          <a:lstStyle/>
          <a:p>
            <a:pPr marL="0" indent="0">
              <a:buNone/>
            </a:pPr>
            <a:r>
              <a:rPr lang="en-US" sz="1300" dirty="0">
                <a:solidFill>
                  <a:schemeClr val="accent3"/>
                </a:solidFill>
              </a:rPr>
              <a:t>Build and test locally: notebook + streamlit run</a:t>
            </a:r>
            <a:endParaRPr lang="en-US" sz="1300" dirty="0"/>
          </a:p>
        </p:txBody>
      </p:sp>
      <p:sp>
        <p:nvSpPr>
          <p:cNvPr id="7" name="pipe-arrow-0"/>
          <p:cNvSpPr/>
          <p:nvPr/>
        </p:nvSpPr>
        <p:spPr>
          <a:xfrm>
            <a:off x="4023360" y="1645920"/>
            <a:ext cx="320040" cy="237744"/>
          </a:xfrm>
          <a:prstGeom prst="rightArrow">
            <a:avLst/>
          </a:prstGeom>
          <a:solidFill>
            <a:schemeClr val="accent3"/>
          </a:solidFill>
          <a:ln w="12700">
            <a:solidFill>
              <a:schemeClr val="accent3"/>
            </a:solidFill>
            <a:prstDash val="solid"/>
          </a:ln>
        </p:spPr>
      </p:sp>
      <p:sp>
        <p:nvSpPr>
          <p:cNvPr id="8" name="pipe-icon-1-circle"/>
          <p:cNvSpPr/>
          <p:nvPr/>
        </p:nvSpPr>
        <p:spPr>
          <a:xfrm>
            <a:off x="4389120" y="1371600"/>
            <a:ext cx="777240" cy="777240"/>
          </a:xfrm>
          <a:prstGeom prst="ellipse">
            <a:avLst/>
          </a:prstGeom>
          <a:solidFill>
            <a:schemeClr val="tx1"/>
          </a:solidFill>
          <a:ln w="12700">
            <a:solidFill>
              <a:schemeClr val="tx1"/>
            </a:solidFill>
            <a:prstDash val="solid"/>
          </a:ln>
        </p:spPr>
      </p:sp>
      <p:pic>
        <p:nvPicPr>
          <p:cNvPr id="9" name="pipe-icon-1" descr="preencoded.png"/>
          <p:cNvPicPr>
            <a:picLocks noChangeAspect="1"/>
          </p:cNvPicPr>
          <p:nvPr/>
        </p:nvPicPr>
        <p:blipFill>
          <a:blip r:embed="rId4"/>
          <a:stretch>
            <a:fillRect/>
          </a:stretch>
        </p:blipFill>
        <p:spPr>
          <a:xfrm>
            <a:off x="4591202" y="1573682"/>
            <a:ext cx="373075" cy="373075"/>
          </a:xfrm>
          <a:prstGeom prst="rect">
            <a:avLst/>
          </a:prstGeom>
        </p:spPr>
      </p:pic>
      <p:sp>
        <p:nvSpPr>
          <p:cNvPr id="10" name="pipe-head-1"/>
          <p:cNvSpPr txBox="1"/>
          <p:nvPr/>
        </p:nvSpPr>
        <p:spPr>
          <a:xfrm>
            <a:off x="5303520" y="1371600"/>
            <a:ext cx="2514600" cy="365760"/>
          </a:xfrm>
          <a:prstGeom prst="rect">
            <a:avLst/>
          </a:prstGeom>
          <a:noFill/>
          <a:ln/>
        </p:spPr>
        <p:txBody>
          <a:bodyPr wrap="square" lIns="0" tIns="0" rIns="0" bIns="0" rtlCol="0" anchor="t"/>
          <a:lstStyle/>
          <a:p>
            <a:pPr marL="0" indent="0">
              <a:buNone/>
            </a:pPr>
            <a:r>
              <a:rPr lang="en-US" sz="1700" b="1" dirty="0">
                <a:solidFill>
                  <a:schemeClr val="tx2"/>
                </a:solidFill>
              </a:rPr>
              <a:t>GitHub</a:t>
            </a:r>
            <a:endParaRPr lang="en-US" sz="1700" dirty="0"/>
          </a:p>
        </p:txBody>
      </p:sp>
      <p:sp>
        <p:nvSpPr>
          <p:cNvPr id="11" name="pipe-text-1"/>
          <p:cNvSpPr txBox="1"/>
          <p:nvPr/>
        </p:nvSpPr>
        <p:spPr>
          <a:xfrm>
            <a:off x="5303520" y="1737360"/>
            <a:ext cx="2514600" cy="640080"/>
          </a:xfrm>
          <a:prstGeom prst="rect">
            <a:avLst/>
          </a:prstGeom>
          <a:noFill/>
          <a:ln/>
        </p:spPr>
        <p:txBody>
          <a:bodyPr wrap="square" lIns="0" tIns="0" rIns="0" bIns="0" rtlCol="0" anchor="t"/>
          <a:lstStyle/>
          <a:p>
            <a:pPr marL="0" indent="0">
              <a:buNone/>
            </a:pPr>
            <a:r>
              <a:rPr lang="en-US" sz="1300" dirty="0">
                <a:solidFill>
                  <a:schemeClr val="accent3"/>
                </a:solidFill>
              </a:rPr>
              <a:t>Push code, requirements and data/ to the repository</a:t>
            </a:r>
            <a:endParaRPr lang="en-US" sz="1300" dirty="0"/>
          </a:p>
        </p:txBody>
      </p:sp>
      <p:sp>
        <p:nvSpPr>
          <p:cNvPr id="12" name="pipe-arrow-1"/>
          <p:cNvSpPr/>
          <p:nvPr/>
        </p:nvSpPr>
        <p:spPr>
          <a:xfrm>
            <a:off x="7863840" y="1645920"/>
            <a:ext cx="320040" cy="237744"/>
          </a:xfrm>
          <a:prstGeom prst="rightArrow">
            <a:avLst/>
          </a:prstGeom>
          <a:solidFill>
            <a:schemeClr val="accent3"/>
          </a:solidFill>
          <a:ln w="12700">
            <a:solidFill>
              <a:schemeClr val="accent3"/>
            </a:solidFill>
            <a:prstDash val="solid"/>
          </a:ln>
        </p:spPr>
      </p:sp>
      <p:sp>
        <p:nvSpPr>
          <p:cNvPr id="13" name="pipe-icon-2-circle"/>
          <p:cNvSpPr/>
          <p:nvPr/>
        </p:nvSpPr>
        <p:spPr>
          <a:xfrm>
            <a:off x="8229600" y="1371600"/>
            <a:ext cx="777240" cy="777240"/>
          </a:xfrm>
          <a:prstGeom prst="ellipse">
            <a:avLst/>
          </a:prstGeom>
          <a:solidFill>
            <a:schemeClr val="accent2"/>
          </a:solidFill>
          <a:ln w="12700">
            <a:solidFill>
              <a:schemeClr val="accent2"/>
            </a:solidFill>
            <a:prstDash val="solid"/>
          </a:ln>
        </p:spPr>
      </p:sp>
      <p:pic>
        <p:nvPicPr>
          <p:cNvPr id="14" name="pipe-icon-2" descr="preencoded.png"/>
          <p:cNvPicPr>
            <a:picLocks noChangeAspect="1"/>
          </p:cNvPicPr>
          <p:nvPr/>
        </p:nvPicPr>
        <p:blipFill>
          <a:blip r:embed="rId5"/>
          <a:stretch>
            <a:fillRect/>
          </a:stretch>
        </p:blipFill>
        <p:spPr>
          <a:xfrm>
            <a:off x="8431682" y="1573682"/>
            <a:ext cx="373075" cy="373075"/>
          </a:xfrm>
          <a:prstGeom prst="rect">
            <a:avLst/>
          </a:prstGeom>
        </p:spPr>
      </p:pic>
      <p:sp>
        <p:nvSpPr>
          <p:cNvPr id="15" name="pipe-head-2"/>
          <p:cNvSpPr txBox="1"/>
          <p:nvPr/>
        </p:nvSpPr>
        <p:spPr>
          <a:xfrm>
            <a:off x="9144000" y="1371600"/>
            <a:ext cx="2514600" cy="365760"/>
          </a:xfrm>
          <a:prstGeom prst="rect">
            <a:avLst/>
          </a:prstGeom>
          <a:noFill/>
          <a:ln/>
        </p:spPr>
        <p:txBody>
          <a:bodyPr wrap="square" lIns="0" tIns="0" rIns="0" bIns="0" rtlCol="0" anchor="t"/>
          <a:lstStyle/>
          <a:p>
            <a:pPr marL="0" indent="0">
              <a:buNone/>
            </a:pPr>
            <a:r>
              <a:rPr lang="en-US" sz="1700" b="1" dirty="0">
                <a:solidFill>
                  <a:schemeClr val="tx2"/>
                </a:solidFill>
              </a:rPr>
              <a:t>Streamlit Community Cloud</a:t>
            </a:r>
            <a:endParaRPr lang="en-US" sz="1700" dirty="0"/>
          </a:p>
        </p:txBody>
      </p:sp>
      <p:sp>
        <p:nvSpPr>
          <p:cNvPr id="16" name="pipe-text-2"/>
          <p:cNvSpPr txBox="1"/>
          <p:nvPr/>
        </p:nvSpPr>
        <p:spPr>
          <a:xfrm>
            <a:off x="9144000" y="1737360"/>
            <a:ext cx="2514600" cy="640080"/>
          </a:xfrm>
          <a:prstGeom prst="rect">
            <a:avLst/>
          </a:prstGeom>
          <a:noFill/>
          <a:ln/>
        </p:spPr>
        <p:txBody>
          <a:bodyPr wrap="square" lIns="0" tIns="0" rIns="0" bIns="0" rtlCol="0" anchor="t"/>
          <a:lstStyle/>
          <a:p>
            <a:pPr marL="0" indent="0">
              <a:buNone/>
            </a:pPr>
            <a:r>
              <a:rPr lang="en-US" sz="1300" dirty="0">
                <a:solidFill>
                  <a:schemeClr val="accent3"/>
                </a:solidFill>
              </a:rPr>
              <a:t>Deploys from GitHub → public .streamlit.app link</a:t>
            </a:r>
            <a:endParaRPr lang="en-US" sz="1300" dirty="0"/>
          </a:p>
        </p:txBody>
      </p:sp>
      <p:sp>
        <p:nvSpPr>
          <p:cNvPr id="17" name="code-git-bg"/>
          <p:cNvSpPr/>
          <p:nvPr/>
        </p:nvSpPr>
        <p:spPr>
          <a:xfrm>
            <a:off x="548640" y="2743200"/>
            <a:ext cx="5394960" cy="2121408"/>
          </a:xfrm>
          <a:prstGeom prst="roundRect">
            <a:avLst>
              <a:gd name="adj" fmla="val 3448"/>
            </a:avLst>
          </a:prstGeom>
          <a:solidFill>
            <a:schemeClr val="tx2"/>
          </a:solidFill>
          <a:ln w="12700">
            <a:solidFill>
              <a:schemeClr val="tx2"/>
            </a:solidFill>
            <a:prstDash val="solid"/>
          </a:ln>
        </p:spPr>
      </p:sp>
      <p:sp>
        <p:nvSpPr>
          <p:cNvPr id="18" name="code-git"/>
          <p:cNvSpPr txBox="1"/>
          <p:nvPr/>
        </p:nvSpPr>
        <p:spPr>
          <a:xfrm>
            <a:off x="777240" y="2926080"/>
            <a:ext cx="4937760" cy="175564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 push from the VS Code terminal</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init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add .</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commit -m "RAG Document Assistant"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branch -M main</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remote add origin &lt;repo-url&gt;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git push -u origin main</a:t>
            </a:r>
            <a:endParaRPr lang="en-US" sz="1400" dirty="0"/>
          </a:p>
        </p:txBody>
      </p:sp>
      <p:sp>
        <p:nvSpPr>
          <p:cNvPr id="19" name="cloud-card"/>
          <p:cNvSpPr/>
          <p:nvPr/>
        </p:nvSpPr>
        <p:spPr>
          <a:xfrm>
            <a:off x="6217920" y="2743200"/>
            <a:ext cx="5394960" cy="2743200"/>
          </a:xfrm>
          <a:prstGeom prst="roundRect">
            <a:avLst>
              <a:gd name="adj" fmla="val 3333"/>
            </a:avLst>
          </a:prstGeom>
          <a:solidFill>
            <a:schemeClr val="accent5"/>
          </a:solidFill>
          <a:ln w="12700">
            <a:solidFill>
              <a:schemeClr val="accent5"/>
            </a:solidFill>
            <a:prstDash val="solid"/>
          </a:ln>
        </p:spPr>
      </p:sp>
      <p:sp>
        <p:nvSpPr>
          <p:cNvPr id="20" name="cloud-head"/>
          <p:cNvSpPr txBox="1"/>
          <p:nvPr/>
        </p:nvSpPr>
        <p:spPr>
          <a:xfrm>
            <a:off x="6492240" y="2926080"/>
            <a:ext cx="4846320" cy="365760"/>
          </a:xfrm>
          <a:prstGeom prst="rect">
            <a:avLst/>
          </a:prstGeom>
          <a:noFill/>
          <a:ln/>
        </p:spPr>
        <p:txBody>
          <a:bodyPr wrap="square" lIns="0" tIns="0" rIns="0" bIns="0" rtlCol="0" anchor="t"/>
          <a:lstStyle/>
          <a:p>
            <a:pPr marL="0" indent="0">
              <a:buNone/>
            </a:pPr>
            <a:r>
              <a:rPr lang="en-US" sz="1700" b="1" dirty="0">
                <a:solidFill>
                  <a:schemeClr val="tx2"/>
                </a:solidFill>
              </a:rPr>
              <a:t>On share.streamlit.io</a:t>
            </a:r>
            <a:endParaRPr lang="en-US" sz="1700" dirty="0"/>
          </a:p>
        </p:txBody>
      </p:sp>
      <p:sp>
        <p:nvSpPr>
          <p:cNvPr id="21" name="cloud-steps"/>
          <p:cNvSpPr txBox="1"/>
          <p:nvPr/>
        </p:nvSpPr>
        <p:spPr>
          <a:xfrm>
            <a:off x="6492240" y="3383280"/>
            <a:ext cx="4846320" cy="20116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rPr>
              <a:t>Sign in with GitHub → New app</a:t>
            </a:r>
            <a:endParaRPr lang="en-US" sz="1500" dirty="0"/>
          </a:p>
          <a:p>
            <a:pPr marL="342900" indent="-342900">
              <a:spcAft>
                <a:spcPts val="800"/>
              </a:spcAft>
              <a:buSzPct val="100000"/>
              <a:buFont typeface="+mj-lt"/>
              <a:buAutoNum type="arabicPeriod"/>
            </a:pPr>
            <a:r>
              <a:rPr lang="en-US" sz="1500" dirty="0">
                <a:solidFill>
                  <a:schemeClr val="tx1"/>
                </a:solidFill>
              </a:rPr>
              <a:t>Repository + branch main</a:t>
            </a:r>
            <a:endParaRPr lang="en-US" sz="1500" dirty="0"/>
          </a:p>
          <a:p>
            <a:pPr marL="342900" indent="-342900">
              <a:spcAft>
                <a:spcPts val="800"/>
              </a:spcAft>
              <a:buSzPct val="100000"/>
              <a:buFont typeface="+mj-lt"/>
              <a:buAutoNum type="arabicPeriod"/>
            </a:pPr>
            <a:r>
              <a:rPr lang="en-US" sz="1500" dirty="0">
                <a:solidFill>
                  <a:schemeClr val="tx1"/>
                </a:solidFill>
              </a:rPr>
              <a:t>Main file: rag_document_assistant.py</a:t>
            </a:r>
            <a:endParaRPr lang="en-US" sz="1500" dirty="0"/>
          </a:p>
          <a:p>
            <a:pPr marL="342900" indent="-342900">
              <a:spcAft>
                <a:spcPts val="800"/>
              </a:spcAft>
              <a:buSzPct val="100000"/>
              <a:buFont typeface="+mj-lt"/>
              <a:buAutoNum type="arabicPeriod"/>
            </a:pPr>
            <a:r>
              <a:rPr lang="en-US" sz="1500" dirty="0">
                <a:solidFill>
                  <a:schemeClr val="tx1"/>
                </a:solidFill>
              </a:rPr>
              <a:t>Secrets: GROQ_API_KEY, LLM_PROVIDER</a:t>
            </a:r>
            <a:endParaRPr lang="en-US" sz="1500" dirty="0"/>
          </a:p>
          <a:p>
            <a:pPr marL="342900" indent="-342900">
              <a:spcAft>
                <a:spcPts val="800"/>
              </a:spcAft>
              <a:buSzPct val="100000"/>
              <a:buFont typeface="+mj-lt"/>
              <a:buAutoNum type="arabicPeriod"/>
            </a:pPr>
            <a:r>
              <a:rPr lang="en-US" sz="1500" dirty="0">
                <a:solidFill>
                  <a:schemeClr val="tx1"/>
                </a:solidFill>
              </a:rPr>
              <a:t>Deploy → share the .streamlit.app link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rPr>
              <a:t>Conclusion</a:t>
            </a:r>
            <a:endParaRPr lang="en-US" sz="4400" dirty="0"/>
          </a:p>
        </p:txBody>
      </p:sp>
      <p:sp>
        <p:nvSpPr>
          <p:cNvPr id="3" name="Text 0"/>
          <p:cNvSpPr>
            <a:spLocks noGrp="1"/>
          </p:cNvSpPr>
          <p:nvPr>
            <p:ph type="body" idx="101" hasCustomPrompt="1"/>
          </p:nvPr>
        </p:nvSpPr>
        <p:spPr>
          <a:xfrm>
            <a:off x="731520" y="3611880"/>
            <a:ext cx="10698480" cy="1280160"/>
          </a:xfrm>
          <a:prstGeom prst="rect">
            <a:avLst/>
          </a:prstGeom>
          <a:noFill/>
          <a:ln/>
        </p:spPr>
        <p:txBody>
          <a:bodyPr wrap="square" lIns="0" tIns="0" rIns="0" bIns="0" rtlCol="0" anchor="t"/>
          <a:lstStyle/>
          <a:p>
            <a:pPr marL="0" indent="0">
              <a:buNone/>
            </a:pPr>
            <a:endParaRPr lang="en-US" sz="2000" dirty="0"/>
          </a:p>
        </p:txBody>
      </p:sp>
      <p:sp>
        <p:nvSpPr>
          <p:cNvPr id="4" name="end-icon-circle"/>
          <p:cNvSpPr/>
          <p:nvPr/>
        </p:nvSpPr>
        <p:spPr>
          <a:xfrm>
            <a:off x="731520" y="731520"/>
            <a:ext cx="914400" cy="914400"/>
          </a:xfrm>
          <a:prstGeom prst="ellipse">
            <a:avLst/>
          </a:prstGeom>
          <a:solidFill>
            <a:schemeClr val="accent1"/>
          </a:solidFill>
          <a:ln w="12700">
            <a:solidFill>
              <a:schemeClr val="accent1"/>
            </a:solidFill>
            <a:prstDash val="solid"/>
          </a:ln>
        </p:spPr>
      </p:sp>
      <p:pic>
        <p:nvPicPr>
          <p:cNvPr id="5" name="end-icon" descr="preencoded.png"/>
          <p:cNvPicPr>
            <a:picLocks noChangeAspect="1"/>
          </p:cNvPicPr>
          <p:nvPr/>
        </p:nvPicPr>
        <p:blipFill>
          <a:blip r:embed="rId3"/>
          <a:stretch>
            <a:fillRect/>
          </a:stretch>
        </p:blipFill>
        <p:spPr>
          <a:xfrm>
            <a:off x="969264" y="969264"/>
            <a:ext cx="438912" cy="438912"/>
          </a:xfrm>
          <a:prstGeom prst="rect">
            <a:avLst/>
          </a:prstGeom>
        </p:spPr>
      </p:pic>
    </p:spTree>
  </p:cSld>
  <p:clrMapOvr>
    <a:masterClrMapping/>
  </p:clrMapOvr>
</p:sld>
</file>

<file path=ppt/theme/theme1.xml><?xml version="1.0" encoding="utf-8"?>
<a:theme xmlns:a="http://schemas.openxmlformats.org/drawingml/2006/main" name="RAG Assistant">
  <a:themeElements>
    <a:clrScheme name="RAG Assistant">
      <a:dk1>
        <a:srgbClr val="1B2631"/>
      </a:dk1>
      <a:lt1>
        <a:srgbClr val="FFFFFF"/>
      </a:lt1>
      <a:dk2>
        <a:srgbClr val="0B3C49"/>
      </a:dk2>
      <a:lt2>
        <a:srgbClr val="EEF4F3"/>
      </a:lt2>
      <a:accent1>
        <a:srgbClr val="0E7C6B"/>
      </a:accent1>
      <a:accent2>
        <a:srgbClr val="E0892B"/>
      </a:accent2>
      <a:accent3>
        <a:srgbClr val="5B6C7A"/>
      </a:accent3>
      <a:accent4>
        <a:srgbClr val="D7E8E4"/>
      </a:accent4>
      <a:accent5>
        <a:srgbClr val="FBEBD8"/>
      </a:accent5>
      <a:accent6>
        <a:srgbClr val="C0392B"/>
      </a:accent6>
      <a:hlink>
        <a:srgbClr val="0E7C6B"/>
      </a:hlink>
      <a:folHlink>
        <a:srgbClr val="5B6C7A"/>
      </a:folHlink>
    </a:clrScheme>
    <a:fontScheme name="RAG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2065</Words>
  <Application>Microsoft Office PowerPoint</Application>
  <PresentationFormat>Widescreen</PresentationFormat>
  <Paragraphs>299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RAG Assistant</vt:lpstr>
      <vt:lpstr>RAG-Based Intelligent Document Assistant</vt:lpstr>
      <vt:lpstr>Objective: answer questions from your own documents</vt:lpstr>
      <vt:lpstr>Technical constraints: a clear split of responsibilities</vt:lpstr>
      <vt:lpstr>Architecture: from documents to cited answers</vt:lpstr>
      <vt:lpstr>Tech stack and key settings</vt:lpstr>
      <vt:lpstr>Steps 1–5: setup, LLM and document ingestion</vt:lpstr>
      <vt:lpstr>Steps 6–7: vector index and semantic retrieval</vt:lpstr>
      <vt:lpstr>Steps 8–10: prompt template and the LCEL RAG chain</vt:lpstr>
      <vt:lpstr>Step 11: structured answers with PydanticOutputParser</vt:lpstr>
      <vt:lpstr>Steps 12–14: multi-document, summary and conversation</vt:lpstr>
      <vt:lpstr>Deployable application: Streamlit web app on the cloud</vt:lpstr>
      <vt:lpstr>Challenges faced and how they were solved</vt:lpstr>
      <vt:lpstr>Testing: questions with known answers</vt:lpstr>
      <vt:lpstr>Deliverables in the GitHub repository</vt:lpstr>
      <vt:lpstr>Deployment: VS Code → GitHub → Streamlit Cloud</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RAG-Based Intelligent Document Assistant</dc:title>
  <dc:subject>PptxGenJS Presentation</dc:subject>
  <dc:creator>Akshay Kale</dc:creator>
  <cp:lastModifiedBy>Akshay Kale</cp:lastModifiedBy>
  <cp:revision>2</cp:revision>
  <dcterms:created xsi:type="dcterms:W3CDTF">2026-10-15T17:42:39Z</dcterms:created>
  <dcterms:modified xsi:type="dcterms:W3CDTF">2026-10-15T17:45:00Z</dcterms:modified>
</cp:coreProperties>
</file>